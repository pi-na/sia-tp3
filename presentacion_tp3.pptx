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74320" cy="164592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274320" cy="164592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365760"/>
            <a:ext cx="274320" cy="164592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CD8EE"/>
                </a:solidFill>
              </a:rPr>
              <a:t>TP3 · ITBA · SIA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Perceptrón Simple y Multicapa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CD8EE"/>
                </a:solidFill>
              </a:rPr>
              <a:t>Detección de fraude · Clasificación de dígitos · Hacia ≥ 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AB8D0"/>
                </a:solidFill>
              </a:rPr>
              <a:t>Segundo intento · Decisiones ancladas en las clases del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Lo que vamos a recorrer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Tres ejercicios · misma metodología · cadena de decisiones explícita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840480" cy="42062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73152" cy="420624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EJERCICIO 1 — Fraude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01952"/>
            <a:ext cx="35661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Distillation BigModel → TinyModel</a:t>
            </a:r>
          </a:p>
          <a:p>
            <a:r>
              <a:rPr sz="1200">
                <a:solidFill>
                  <a:srgbClr val="333333"/>
                </a:solidFill>
              </a:rPr>
              <a:t>Perceptrón lineal vs no-lineal</a:t>
            </a:r>
          </a:p>
          <a:p>
            <a:r>
              <a:rPr sz="1200">
                <a:solidFill>
                  <a:srgbClr val="333333"/>
                </a:solidFill>
              </a:rPr>
              <a:t>• Análisis del dataset</a:t>
            </a:r>
          </a:p>
          <a:p>
            <a:r>
              <a:rPr sz="1200">
                <a:solidFill>
                  <a:srgbClr val="333333"/>
                </a:solidFill>
              </a:rPr>
              <a:t>• Sweep LR + threshold</a:t>
            </a:r>
          </a:p>
          <a:p>
            <a:r>
              <a:rPr sz="1200">
                <a:solidFill>
                  <a:srgbClr val="333333"/>
                </a:solidFill>
              </a:rPr>
              <a:t>• Generalización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840480" cy="42062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73152" cy="420624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6093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EJERCICIO 2 — Dígitos (MLP)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01952"/>
            <a:ext cx="35661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Clasificación 10 clases · imágenes 28×28</a:t>
            </a:r>
          </a:p>
          <a:p>
            <a:r>
              <a:rPr sz="1200">
                <a:solidFill>
                  <a:srgbClr val="333333"/>
                </a:solidFill>
              </a:rPr>
              <a:t>Exploración de LR · arch · optimizador</a:t>
            </a:r>
          </a:p>
          <a:p>
            <a:r>
              <a:rPr sz="1200">
                <a:solidFill>
                  <a:srgbClr val="333333"/>
                </a:solidFill>
              </a:rPr>
              <a:t>• Análisis del dataset</a:t>
            </a:r>
          </a:p>
          <a:p>
            <a:r>
              <a:rPr sz="1200">
                <a:solidFill>
                  <a:srgbClr val="333333"/>
                </a:solidFill>
              </a:rPr>
              <a:t>• 1ª tanda: sweeps one-at-a-time</a:t>
            </a:r>
          </a:p>
          <a:p>
            <a:r>
              <a:rPr sz="1200">
                <a:solidFill>
                  <a:srgbClr val="333333"/>
                </a:solidFill>
              </a:rPr>
              <a:t>• 2ª tanda: experimentos cruzados</a:t>
            </a:r>
          </a:p>
          <a:p>
            <a:r>
              <a:rPr sz="1200">
                <a:solidFill>
                  <a:srgbClr val="333333"/>
                </a:solidFill>
              </a:rPr>
              <a:t>• Convergencia + generalización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566160" cy="42062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73152" cy="420624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609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EJERCICIO 3 — ≥ 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Subir test_acc sobre digits_test.csv</a:t>
            </a:r>
          </a:p>
          <a:p>
            <a:r>
              <a:rPr sz="1200">
                <a:solidFill>
                  <a:srgbClr val="333333"/>
                </a:solidFill>
              </a:rPr>
              <a:t>Dos palancas:</a:t>
            </a:r>
          </a:p>
          <a:p>
            <a:r>
              <a:rPr sz="1200">
                <a:solidFill>
                  <a:srgbClr val="333333"/>
                </a:solidFill>
              </a:rPr>
              <a:t>• Sumar more_digits.csv</a:t>
            </a:r>
          </a:p>
          <a:p>
            <a:r>
              <a:rPr sz="1200">
                <a:solidFill>
                  <a:srgbClr val="333333"/>
                </a:solidFill>
              </a:rPr>
              <a:t>• Grid de regularización (L2 × σ)</a:t>
            </a:r>
          </a:p>
          <a:p>
            <a:r>
              <a:rPr sz="1200">
                <a:solidFill>
                  <a:srgbClr val="333333"/>
                </a:solidFill>
              </a:rPr>
              <a:t>Comparativa final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Cada decisión técnica está anclada en las clases del curso (regularización · métricas · optimizadores).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CD8EE"/>
                </a:solidFill>
              </a:rPr>
              <a:t>TP3 · SIA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Ejercicio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EF3FA"/>
                </a:solidFill>
              </a:rPr>
              <a:t>Detección de fraude — distillation BigModel → TinyModel · 7500 muestras · 11.59%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D8EE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Análisis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Qué encontramos en `fraud_dataset.csv`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Análisis univariado feature-vs-target antes de modelar</a:t>
            </a:r>
          </a:p>
        </p:txBody>
      </p:sp>
      <p:pic>
        <p:nvPicPr>
          <p:cNvPr id="7" name="Picture 6" descr="scatte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400800" cy="51156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40880" y="1417320"/>
            <a:ext cx="4846320" cy="13716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73152" cy="13716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1472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TARGET DE ENTRENAMIENTO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1764792"/>
            <a:ext cx="4572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big_model_fraud_probability (continuo [0,1])</a:t>
            </a:r>
          </a:p>
          <a:p>
            <a:r>
              <a:rPr sz="1100">
                <a:solidFill>
                  <a:srgbClr val="333333"/>
                </a:solidFill>
              </a:rPr>
              <a:t>• Loss: MSE</a:t>
            </a:r>
          </a:p>
          <a:p>
            <a:r>
              <a:rPr sz="1100">
                <a:solidFill>
                  <a:srgbClr val="333333"/>
                </a:solidFill>
              </a:rPr>
              <a:t>• Ground truth de evaluación: flagged_fraud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880360"/>
            <a:ext cx="4846320" cy="13716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2880360"/>
            <a:ext cx="73152" cy="13716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29352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3 REGLAS DURAS DETECTADAS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227832"/>
            <a:ext cx="4572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amount_usd: mayoría de fraudes &lt; 750</a:t>
            </a:r>
          </a:p>
          <a:p>
            <a:r>
              <a:rPr sz="1100">
                <a:solidFill>
                  <a:srgbClr val="333333"/>
                </a:solidFill>
              </a:rPr>
              <a:t>• quantity_purchased ≥ 10 → casi todo fraude</a:t>
            </a:r>
          </a:p>
          <a:p>
            <a:r>
              <a:rPr sz="1100">
                <a:solidFill>
                  <a:srgbClr val="333333"/>
                </a:solidFill>
              </a:rPr>
              <a:t>• session_duration_seconds &lt; 150 → enriquecido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343400"/>
            <a:ext cx="4846320" cy="14630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4343400"/>
            <a:ext cx="73152" cy="146304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4398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BASELINE “3 REGLAS” (sin modelo)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4690872"/>
            <a:ext cx="4572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Precision = 100% · Recall = 80%</a:t>
            </a:r>
          </a:p>
          <a:p>
            <a:r>
              <a:rPr sz="1100">
                <a:solidFill>
                  <a:srgbClr val="333333"/>
                </a:solidFill>
              </a:rPr>
              <a:t>Accuracy = 97.68% · F1 ≈ 0.889</a:t>
            </a:r>
          </a:p>
          <a:p>
            <a:r>
              <a:rPr sz="1100">
                <a:solidFill>
                  <a:srgbClr val="333333"/>
                </a:solidFill>
              </a:rPr>
              <a:t>Es el techo que tenemos que igualar.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Hay un baseline de 3 reglas duras con F1 ≈ 0.889 — el perceptrón sólo vale la pena si lo iguala.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Estructura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Las 3 reglas son discontinuidades (escalones)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Predicción teórica: el lineal va a underfittear estructuralmente</a:t>
            </a:r>
          </a:p>
        </p:txBody>
      </p:sp>
      <p:pic>
        <p:nvPicPr>
          <p:cNvPr id="7" name="Picture 6" descr="escal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858000" cy="20444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06640" y="1417320"/>
            <a:ext cx="4480560" cy="22860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417320"/>
            <a:ext cx="73152" cy="22860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7808" y="14721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HIPÓTESIS TEÓRICA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1764792"/>
            <a:ext cx="4206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Saltos de ~6% → 100% en un valor entero.</a:t>
            </a:r>
          </a:p>
          <a:p>
            <a:r>
              <a:rPr sz="1100">
                <a:solidFill>
                  <a:srgbClr val="333333"/>
                </a:solidFill>
              </a:rPr>
              <a:t>Geométricamente imposibles para una</a:t>
            </a:r>
          </a:p>
          <a:p>
            <a:r>
              <a:rPr sz="1100">
                <a:solidFill>
                  <a:srgbClr val="333333"/>
                </a:solidFill>
              </a:rPr>
              <a:t>recta + sigmoide saturada.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>
                <a:solidFill>
                  <a:srgbClr val="333333"/>
                </a:solidFill>
              </a:rPr>
              <a:t>• Lineal → underfitting estructural</a:t>
            </a:r>
          </a:p>
          <a:p>
            <a:r>
              <a:rPr sz="1100">
                <a:solidFill>
                  <a:srgbClr val="333333"/>
                </a:solidFill>
              </a:rPr>
              <a:t>• No-lineal (sigmoide) → puede acercarse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3749039"/>
            <a:ext cx="4480560" cy="20574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3749039"/>
            <a:ext cx="73152" cy="20574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380390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DEFINICIÓN DE UNDERFITTING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4096511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No alcanzar el baseline en train:</a:t>
            </a:r>
          </a:p>
          <a:p>
            <a:r>
              <a:rPr sz="1100">
                <a:solidFill>
                  <a:srgbClr val="333333"/>
                </a:solidFill>
              </a:rPr>
              <a:t>  acc ≥ 97.68%   ·   prec ≥ 100%   ·   rec ≥ 80%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>
                <a:solidFill>
                  <a:srgbClr val="333333"/>
                </a:solidFill>
              </a:rPr>
              <a:t>Como mínimo queremos igualar el RECALL</a:t>
            </a:r>
          </a:p>
          <a:p>
            <a:r>
              <a:rPr sz="1100">
                <a:solidFill>
                  <a:srgbClr val="333333"/>
                </a:solidFill>
              </a:rPr>
              <a:t>para que valga la pena usar el perceptrón.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Las 3 reglas son escalones → predecimos que el lineal va a quedarse corto en MSE; el no-lineal debería acercarse.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Pipeline y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Pipeline y decisiones de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Todo anclado en las clases del curso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201168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73152" cy="201168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72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PREPROCESAMIENTO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64792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Z-score fit-on-train por fold</a:t>
            </a:r>
          </a:p>
          <a:p>
            <a:r>
              <a:rPr sz="1100">
                <a:solidFill>
                  <a:srgbClr val="333333"/>
                </a:solidFill>
              </a:rPr>
              <a:t>  (sin data leakage)</a:t>
            </a:r>
          </a:p>
          <a:p>
            <a:r>
              <a:rPr sz="1100">
                <a:solidFill>
                  <a:srgbClr val="333333"/>
                </a:solidFill>
              </a:rPr>
              <a:t>• Bipolar no aplica (problema binario</a:t>
            </a:r>
          </a:p>
          <a:p>
            <a:r>
              <a:rPr sz="1100">
                <a:solidFill>
                  <a:srgbClr val="333333"/>
                </a:solidFill>
              </a:rPr>
              <a:t>  con probabilidades del BigModel)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3657600" cy="201168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73152" cy="201168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472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VALIDACIÓN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764792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K-fold estratificado, K = 5</a:t>
            </a:r>
          </a:p>
          <a:p>
            <a:r>
              <a:rPr sz="1100">
                <a:solidFill>
                  <a:srgbClr val="333333"/>
                </a:solidFill>
              </a:rPr>
              <a:t>  (mantiene el 11.59% de positivos)</a:t>
            </a:r>
          </a:p>
          <a:p>
            <a:r>
              <a:rPr sz="1100">
                <a:solidFill>
                  <a:srgbClr val="333333"/>
                </a:solidFill>
              </a:rPr>
              <a:t>• Multi-seed × 5 → separa varianza por</a:t>
            </a:r>
          </a:p>
          <a:p>
            <a:r>
              <a:rPr sz="1100">
                <a:solidFill>
                  <a:srgbClr val="333333"/>
                </a:solidFill>
              </a:rPr>
              <a:t>  inicialización vs por partición</a:t>
            </a:r>
          </a:p>
          <a:p>
            <a:r>
              <a:rPr sz="1100">
                <a:solidFill>
                  <a:srgbClr val="333333"/>
                </a:solidFill>
              </a:rPr>
              <a:t>• Total: 25 corridas por 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3931920" cy="201168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417320"/>
            <a:ext cx="73152" cy="201168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7" y="14721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MODELOS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7" y="1764792"/>
            <a:ext cx="3657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Lineal (ADALINE, identidad)</a:t>
            </a:r>
          </a:p>
          <a:p>
            <a:r>
              <a:rPr sz="1100">
                <a:solidFill>
                  <a:srgbClr val="333333"/>
                </a:solidFill>
              </a:rPr>
              <a:t>  entrenado online con MSE</a:t>
            </a:r>
          </a:p>
          <a:p>
            <a:r>
              <a:rPr sz="1100">
                <a:solidFill>
                  <a:srgbClr val="333333"/>
                </a:solidFill>
              </a:rPr>
              <a:t>• No-lineal (sigmoide), mismo MSE,</a:t>
            </a:r>
          </a:p>
          <a:p>
            <a:r>
              <a:rPr sz="1100">
                <a:solidFill>
                  <a:srgbClr val="333333"/>
                </a:solidFill>
              </a:rPr>
              <a:t>  misma data — sólo cambia la activación</a:t>
            </a:r>
          </a:p>
          <a:p>
            <a:r>
              <a:rPr sz="1100">
                <a:solidFill>
                  <a:srgbClr val="333333"/>
                </a:solidFill>
              </a:rPr>
              <a:t>• Init: U(−0.1, 0.1), seed + k_fold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5669280" cy="219456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73152" cy="21945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6210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CRITERIO DE CORTE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913632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Por techo de épocas — epsilon NUNCA dispara</a:t>
            </a:r>
          </a:p>
          <a:p>
            <a:r>
              <a:rPr sz="1100">
                <a:solidFill>
                  <a:srgbClr val="333333"/>
                </a:solidFill>
              </a:rPr>
              <a:t>  (calibrado por debajo del MSE asintótico).</a:t>
            </a:r>
          </a:p>
          <a:p>
            <a:r>
              <a:rPr sz="1100">
                <a:solidFill>
                  <a:srgbClr val="333333"/>
                </a:solidFill>
              </a:rPr>
              <a:t>• Convergencia honesta = plateau empírico:</a:t>
            </a:r>
          </a:p>
          <a:p>
            <a:r>
              <a:rPr sz="1100">
                <a:solidFill>
                  <a:srgbClr val="333333"/>
                </a:solidFill>
              </a:rPr>
              <a:t>  pendiente del MSE en las últimas 50 ép. ≈ 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66160"/>
            <a:ext cx="5760720" cy="219456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566160"/>
            <a:ext cx="73152" cy="21945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6210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THRESHOLD (post-training)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913632"/>
            <a:ext cx="5486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Vive POST-training: no cambia los pesos,</a:t>
            </a:r>
          </a:p>
          <a:p>
            <a:r>
              <a:rPr sz="1100">
                <a:solidFill>
                  <a:srgbClr val="333333"/>
                </a:solidFill>
              </a:rPr>
              <a:t>  sólo binariza la salida continua.</a:t>
            </a:r>
          </a:p>
          <a:p>
            <a:r>
              <a:rPr sz="1100">
                <a:solidFill>
                  <a:srgbClr val="333333"/>
                </a:solidFill>
              </a:rPr>
              <a:t>• Sweep denso de thr ∈ [0, 1].</a:t>
            </a:r>
          </a:p>
          <a:p>
            <a:r>
              <a:rPr sz="1100">
                <a:solidFill>
                  <a:srgbClr val="333333"/>
                </a:solidFill>
              </a:rPr>
              <a:t>• thr* = el que maximiza F1 sobre las 25 corridas.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K=5 estratificado × 5 seeds + z-score fit-on-train + threshold post-training → 25 estimaciones por config sin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Elección de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¿Por qué K = 5?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Sweep empírico K ∈ {2, 3, 5, 10} sobre el lineal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Modelo: perceptrón lineal</a:t>
            </a:r>
          </a:p>
          <a:p>
            <a:r>
              <a:rPr sz="1100">
                <a:solidFill>
                  <a:srgbClr val="333333"/>
                </a:solidFill>
              </a:rPr>
              <a:t>•  LR = 1e-4 · epochs = 500</a:t>
            </a:r>
          </a:p>
          <a:p>
            <a:r>
              <a:rPr sz="1100">
                <a:solidFill>
                  <a:srgbClr val="333333"/>
                </a:solidFill>
              </a:rPr>
              <a:t>•  Threshold = 0.69 (thr* del LR)</a:t>
            </a:r>
          </a:p>
          <a:p>
            <a:r>
              <a:rPr sz="1100">
                <a:solidFill>
                  <a:srgbClr val="333333"/>
                </a:solidFill>
              </a:rPr>
              <a:t>•  Seed = 42 (única, comparable fold-a-fold)</a:t>
            </a:r>
          </a:p>
          <a:p>
            <a:r>
              <a:rPr sz="1100">
                <a:solidFill>
                  <a:srgbClr val="333333"/>
                </a:solidFill>
              </a:rPr>
              <a:t>•  Estratificado por flagged_fraud</a:t>
            </a:r>
          </a:p>
        </p:txBody>
      </p:sp>
      <p:pic>
        <p:nvPicPr>
          <p:cNvPr id="8" name="Picture 7" descr="kf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228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3749039"/>
            <a:ext cx="11521440" cy="201168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73152" cy="201168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803903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TRADE-OFF SESGO ↔ VARIANZA DEL ESTIMADOR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96511"/>
            <a:ext cx="11247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K chico: train pequeño → estimación pesimista.</a:t>
            </a:r>
          </a:p>
          <a:p>
            <a:r>
              <a:rPr sz="1100">
                <a:solidFill>
                  <a:srgbClr val="333333"/>
                </a:solidFill>
              </a:rPr>
              <a:t>• K grande: folds de test chicos → pocas muestras de fraude → métricas ruidosas.</a:t>
            </a:r>
          </a:p>
          <a:p>
            <a:r>
              <a:rPr sz="1100">
                <a:solidFill>
                  <a:srgbClr val="333333"/>
                </a:solidFill>
              </a:rPr>
              <a:t>• K=5 minimiza std(MSE) = 0.00076; K=10 empeora a 0.00206 sin mejorar la media.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K=5 minimiza la varianza del estimador para 7500 filas con 11.59% positivos. K=10 duplica cómputo sin ganancia.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Sweep LR · lineal · convergencia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Sweep LR — perceptrón lineal · convergencia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5 seeds × 3 LRs × 5 folds = 75 corridas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Modelo: lineal (identidad, MSE)</a:t>
            </a:r>
          </a:p>
          <a:p>
            <a:r>
              <a:rPr sz="1100">
                <a:solidFill>
                  <a:srgbClr val="333333"/>
                </a:solidFill>
              </a:rPr>
              <a:t>•  LRs: {1e-5, 1e-4, 1e-3}</a:t>
            </a:r>
          </a:p>
          <a:p>
            <a:r>
              <a:rPr sz="1100">
                <a:solidFill>
                  <a:srgbClr val="333333"/>
                </a:solidFill>
              </a:rPr>
              <a:t>•  Seeds: 7, 13, 21, 42, 99</a:t>
            </a:r>
          </a:p>
          <a:p>
            <a:r>
              <a:rPr sz="1100">
                <a:solidFill>
                  <a:srgbClr val="333333"/>
                </a:solidFill>
              </a:rPr>
              <a:t>•  K-fold = 5 estratificado</a:t>
            </a:r>
          </a:p>
          <a:p>
            <a:r>
              <a:rPr sz="1100">
                <a:solidFill>
                  <a:srgbClr val="333333"/>
                </a:solidFill>
              </a:rPr>
              <a:t>•  Epochs = 500 · entrenamiento online</a:t>
            </a:r>
          </a:p>
          <a:p>
            <a:r>
              <a:rPr sz="1100">
                <a:solidFill>
                  <a:srgbClr val="333333"/>
                </a:solidFill>
              </a:rPr>
              <a:t>•  Init: U(−0.1, 0.1) · z-score fit-on-train</a:t>
            </a:r>
          </a:p>
        </p:txBody>
      </p:sp>
      <p:pic>
        <p:nvPicPr>
          <p:cNvPr id="8" name="Picture 7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28135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297680"/>
            <a:ext cx="11521440" cy="14630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297680"/>
            <a:ext cx="73152" cy="146304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35254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ARGUMENTO DE CONVERGENCIA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45152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75 corridas llegaron a las 500 ép. — epsilon NUNCA disparó.</a:t>
            </a:r>
          </a:p>
          <a:p>
            <a:r>
              <a:rPr sz="1100">
                <a:solidFill>
                  <a:srgbClr val="333333"/>
                </a:solidFill>
              </a:rPr>
              <a:t>Tail-slope (pendiente últimas 50 ép.) ≈ 1e-13 → ruido numérico float64 → ΔMSE/Δep → 0 → PLATEAU.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Convergencia honesta = plateau (no epsilon). Argumento sólido para defender por qué decimos que el modelo “converge”.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Sweep LR · lineal · métricas a thr*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Métricas del sweep LR lineal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Cada LR evaluado a SU threshold óptimo</a:t>
            </a:r>
          </a:p>
        </p:txBody>
      </p:sp>
      <p:pic>
        <p:nvPicPr>
          <p:cNvPr id="7" name="Picture 6" descr="threshold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400800" cy="17844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1417320"/>
            <a:ext cx="4937760" cy="2560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thr* por LR (maximiza F1):</a:t>
            </a:r>
          </a:p>
          <a:p>
            <a:r>
              <a:rPr sz="1100">
                <a:solidFill>
                  <a:srgbClr val="333333"/>
                </a:solidFill>
              </a:rPr>
              <a:t>•    LR=1e-5 → thr*=0.69</a:t>
            </a:r>
          </a:p>
          <a:p>
            <a:r>
              <a:rPr sz="1100">
                <a:solidFill>
                  <a:srgbClr val="333333"/>
                </a:solidFill>
              </a:rPr>
              <a:t>•    LR=1e-4 → thr*=0.69</a:t>
            </a:r>
          </a:p>
          <a:p>
            <a:r>
              <a:rPr sz="1100">
                <a:solidFill>
                  <a:srgbClr val="333333"/>
                </a:solidFill>
              </a:rPr>
              <a:t>•    LR=1e-3 → thr*=0.78</a:t>
            </a:r>
          </a:p>
          <a:p>
            <a:r>
              <a:rPr sz="1100">
                <a:solidFill>
                  <a:srgbClr val="333333"/>
                </a:solidFill>
              </a:rPr>
              <a:t>•  Métricas: mean ± std sobre 25 corridas</a:t>
            </a:r>
          </a:p>
          <a:p>
            <a:r>
              <a:rPr sz="1100">
                <a:solidFill>
                  <a:srgbClr val="333333"/>
                </a:solidFill>
              </a:rPr>
              <a:t>•  Loss reportada: MSE (la que se minimizó)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20624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LR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thr*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MSE test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Prec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Rec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1e-5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0.69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0.0262 ± 0.0012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0.9741 ± 0.003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0.925 ± 0.018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0.846 ± 0.029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0.883 ± 0.016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1e-4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0.69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0.0265 ± 0.0014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0.9736 ± 0.003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0.910 ± 0.021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0.857 ± 0.028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0.883 ± 0.016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1e-3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0.78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0.0460 ± 0.0062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0.9713 ± 0.004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0.905 ± 0.019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0.841 ± 0.027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0.872 ± 0.017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LR = 1e-4 (converge antes que 1e-5 con métricas equivalentes). LR = 1e-3 sufre SUBAJUSTE en MSE.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Sweep LR · no-lineal · convergencia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Sweep LR — perceptrón no-lineal · convergencia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Mismo protocolo · salida sigmoide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Modelo: no-lineal (sigmoide, MSE)</a:t>
            </a:r>
          </a:p>
          <a:p>
            <a:r>
              <a:rPr sz="1100">
                <a:solidFill>
                  <a:srgbClr val="333333"/>
                </a:solidFill>
              </a:rPr>
              <a:t>•  LRs: {1e-3, 1e-2, 1e-1}</a:t>
            </a:r>
          </a:p>
          <a:p>
            <a:r>
              <a:rPr sz="1100">
                <a:solidFill>
                  <a:srgbClr val="333333"/>
                </a:solidFill>
              </a:rPr>
              <a:t>•  Seeds: 7, 13, 21, 42, 99</a:t>
            </a:r>
          </a:p>
          <a:p>
            <a:r>
              <a:rPr sz="1100">
                <a:solidFill>
                  <a:srgbClr val="333333"/>
                </a:solidFill>
              </a:rPr>
              <a:t>•  K-fold = 5 estratificado</a:t>
            </a:r>
          </a:p>
          <a:p>
            <a:r>
              <a:rPr sz="1100">
                <a:solidFill>
                  <a:srgbClr val="333333"/>
                </a:solidFill>
              </a:rPr>
              <a:t>•  Epochs = 500 · entrenamiento online</a:t>
            </a:r>
          </a:p>
          <a:p>
            <a:r>
              <a:rPr sz="1100">
                <a:solidFill>
                  <a:srgbClr val="333333"/>
                </a:solidFill>
              </a:rPr>
              <a:t>•  Init: U(−0.1, 0.1) · z-score fit-on-train</a:t>
            </a:r>
          </a:p>
        </p:txBody>
      </p:sp>
      <p:pic>
        <p:nvPicPr>
          <p:cNvPr id="8" name="Picture 7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28135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42976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0.011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MSE no-lineal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2976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0.026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MSE lineal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≈ 2×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ganancia del no-lineal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El no-lineal converge a un MSE 2× mejor — la sigmoide aproxima los escalones que la recta no puede capturar.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Threshold sweep · no-lineal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Threshold sweep no-lineal · curva 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El threshold es decisión de NEGOCIO, no HP técnico</a:t>
            </a:r>
          </a:p>
        </p:txBody>
      </p:sp>
      <p:pic>
        <p:nvPicPr>
          <p:cNvPr id="7" name="Picture 6" descr="threshold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760720" cy="1606019"/>
          </a:xfrm>
          <a:prstGeom prst="rect">
            <a:avLst/>
          </a:prstGeom>
        </p:spPr>
      </p:pic>
      <p:pic>
        <p:nvPicPr>
          <p:cNvPr id="8" name="Picture 7" descr="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577840" cy="47197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846320"/>
            <a:ext cx="11521440" cy="10058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846320"/>
            <a:ext cx="73152" cy="100584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90118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CRITERIO (declarado antes de mirar)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937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Queremos máxima recall posible sin perder precisión. Con thr bajos, recall ≈ 1 pero precision colapsa (flag a casi todo).</a:t>
            </a:r>
          </a:p>
          <a:p>
            <a:r>
              <a:rPr sz="1100">
                <a:solidFill>
                  <a:srgbClr val="333333"/>
                </a:solidFill>
              </a:rPr>
              <a:t>Usamos F1 como métrica síntesis para decidir thr* que balancea ambos costos.   →   thr* del LR=1e-2 ganador = 0.89.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thr* = 0.89 maximiza F1. El cliente puede mover el threshold según el costo relativo FN vs FP.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Comparativa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Lineal vs No-lineal vs Baseline (cada uno a su thr*)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La métrica del entrenamiento (MSE) ≠ la métrica de decisión (F1)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11521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thr*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MSE test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Lineal (LR=1e-4)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0.69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0.0265 ± 0.0014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0.9736 ± 0.0035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0.9100 ± 0.021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0.8573 ± 0.028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0.8825 ± 0.016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No-lineal (LR=1e-2)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0.89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0.0110 ± 0.0006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0.9709 ± 0.0045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0.8859 ± 0.021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0.8594 ± 0.027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0.8722 ± 0.020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Baseline 3 reglas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0.9768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1.000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0.889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3657600"/>
            <a:ext cx="11521440" cy="210312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657600"/>
            <a:ext cx="73152" cy="210312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124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OBSERVACIÓN NO TRIVIAL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05072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El no-lineal gana en MSE por 2× (confirma la predicción teórica: aprende los escalones).</a:t>
            </a:r>
          </a:p>
          <a:p>
            <a:r>
              <a:rPr sz="1100">
                <a:solidFill>
                  <a:srgbClr val="333333"/>
                </a:solidFill>
              </a:rPr>
              <a:t>• Pero en F1 quedan EMPATADOS, ambos rozando el baseline (0.889).</a:t>
            </a:r>
          </a:p>
          <a:p>
            <a:r>
              <a:rPr sz="1100">
                <a:solidFill>
                  <a:srgbClr val="333333"/>
                </a:solidFill>
              </a:rPr>
              <a:t>• MSE evalúa cuán bien aproxima la probabilidad continua; F1 evalúa cuán bien clasifica binariamente.</a:t>
            </a:r>
          </a:p>
          <a:p>
            <a:r>
              <a:rPr sz="1100">
                <a:solidFill>
                  <a:srgbClr val="333333"/>
                </a:solidFill>
              </a:rPr>
              <a:t>  Son objetos distintos y se contradicen — exactamente la regla 4 del CLAUDE.md.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Mejor MSE ≠ mejor F1. Ambos modelos rozan el baseline en F1 — la capacidad extra del no-lineal aprovecha en MSE, no en F1.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EJ1 · Generalización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Generalización — sin 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Modelo elegido para CompanyX: no-lineal, LR=1e-2, thr*=0.89</a:t>
            </a:r>
          </a:p>
        </p:txBody>
      </p:sp>
      <p:pic>
        <p:nvPicPr>
          <p:cNvPr id="7" name="Picture 6" descr="gap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400800" cy="24618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417320"/>
            <a:ext cx="4846320" cy="27432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5 seeds × 5 folds = 25 corridas</a:t>
            </a:r>
          </a:p>
          <a:p>
            <a:r>
              <a:rPr sz="1100">
                <a:solidFill>
                  <a:srgbClr val="333333"/>
                </a:solidFill>
              </a:rPr>
              <a:t>•  z-score fit-on-train por fold</a:t>
            </a:r>
          </a:p>
          <a:p>
            <a:r>
              <a:rPr sz="1100">
                <a:solidFill>
                  <a:srgbClr val="333333"/>
                </a:solidFill>
              </a:rPr>
              <a:t>•  Epochs = 500 · sin early stopping</a:t>
            </a:r>
          </a:p>
          <a:p>
            <a:r>
              <a:rPr sz="1100">
                <a:solidFill>
                  <a:srgbClr val="333333"/>
                </a:solidFill>
              </a:rPr>
              <a:t>•  thr* aplicado post-training</a:t>
            </a:r>
          </a:p>
          <a:p>
            <a:r>
              <a:rPr sz="1100">
                <a:solidFill>
                  <a:srgbClr val="333333"/>
                </a:solidFill>
              </a:rPr>
              <a:t>•  Métricas a thr*=0.89:</a:t>
            </a:r>
          </a:p>
          <a:p>
            <a:r>
              <a:rPr sz="1100">
                <a:solidFill>
                  <a:srgbClr val="333333"/>
                </a:solidFill>
              </a:rPr>
              <a:t>•     MSE test = 0.01099 ± 0.00058</a:t>
            </a:r>
          </a:p>
          <a:p>
            <a:r>
              <a:rPr sz="1100">
                <a:solidFill>
                  <a:srgbClr val="333333"/>
                </a:solidFill>
              </a:rPr>
              <a:t>•     Acc = 0.9709 · F1 = 0.8722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97680"/>
            <a:ext cx="11521440" cy="155448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297680"/>
            <a:ext cx="73152" cy="155448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35254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GAP TRAIN ↔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45152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Lineal:    +0.00019    No-lineal: +0.00006</a:t>
            </a:r>
          </a:p>
          <a:p>
            <a:r>
              <a:rPr sz="1100">
                <a:solidFill>
                  <a:srgbClr val="333333"/>
                </a:solidFill>
              </a:rPr>
              <a:t>Puntos sobre la diagonal y=x → MSE_train ≈ MSE_test → no hay memorización.</a:t>
            </a:r>
          </a:p>
          <a:p>
            <a:r>
              <a:rPr sz="1100">
                <a:solidFill>
                  <a:srgbClr val="333333"/>
                </a:solidFill>
              </a:rPr>
              <a:t>El error que queda no es gap train/test sino UNDERFITTING — capacidad insuficiente, no exceso.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El modelo no memoriza: lo que aprendió en 6000 muestras aplica igual a las 1500 que no vio.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CD8EE"/>
                </a:solidFill>
              </a:rPr>
              <a:t>TP3 · SIA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Ejercicio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EF3FA"/>
                </a:solidFill>
              </a:rPr>
              <a:t>Clasificación de dígitos · MLP · 12.449 imágenes 28×28 · LR · arch · optimizador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D8EE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Análisis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Distribución de clases en digits.csv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Hallazgos clave antes de modelar</a:t>
            </a:r>
          </a:p>
        </p:txBody>
      </p:sp>
      <p:pic>
        <p:nvPicPr>
          <p:cNvPr id="7" name="Picture 6" descr="distribucion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400800" cy="284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40880" y="1417320"/>
            <a:ext cx="4846320" cy="128016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73152" cy="12801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1472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1764792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12.449 muestras · 784 features (28×28)</a:t>
            </a:r>
          </a:p>
          <a:p>
            <a:r>
              <a:rPr sz="1100">
                <a:solidFill>
                  <a:srgbClr val="333333"/>
                </a:solidFill>
              </a:rPr>
              <a:t>Valores en [0, 1] · 9 clases presentes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743200"/>
            <a:ext cx="4846320" cy="141732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2743200"/>
            <a:ext cx="73152" cy="141732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2798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ANOMALÍA #1 — CLASE 8 AUSENTE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090672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digits.csv no tiene NI UN ejemplo de la clase 8.</a:t>
            </a:r>
          </a:p>
          <a:p>
            <a:r>
              <a:rPr sz="1100">
                <a:solidFill>
                  <a:srgbClr val="333333"/>
                </a:solidFill>
              </a:rPr>
              <a:t>→ capa de salida = 9 neuronas durante HP search.</a:t>
            </a:r>
          </a:p>
          <a:p>
            <a:r>
              <a:rPr sz="1100">
                <a:solidFill>
                  <a:srgbClr val="333333"/>
                </a:solidFill>
              </a:rPr>
              <a:t>(Ej3 va a sumar more_digits.csv con 585 ejemplos)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251960"/>
            <a:ext cx="4846320" cy="14630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4251960"/>
            <a:ext cx="73152" cy="146304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43068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ANOMALÍA #2 — CLASE 5 DESBALANCEADA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4599432"/>
            <a:ext cx="4572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271 ejemplos vs ~1500 las otras (6× menos).</a:t>
            </a:r>
          </a:p>
          <a:p>
            <a:r>
              <a:rPr sz="1100">
                <a:solidFill>
                  <a:srgbClr val="333333"/>
                </a:solidFill>
              </a:rPr>
              <a:t>Implica: macro_F1 obligatorio (no sólo accuracy).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Dos anomalías estructurales del dataset: clase 8 AUSENTE y clase 5 desbalanceada → marcan toda la metodología.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Variabilidad intra-clase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Muestras por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Lo que el MLP tiene que aprender a clasificar</a:t>
            </a:r>
          </a:p>
        </p:txBody>
      </p:sp>
      <p:pic>
        <p:nvPicPr>
          <p:cNvPr id="7" name="Picture 6" descr="muestras_por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789920" cy="131502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Variabilidad intra-clase amplia (estilos, inclinaciones, grosor) — eso es lo que el MLP debe aprender a ignorar.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Imagen media · ANTES de normalizar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Imagen media por clase — datos crudos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Promedio píxel a píxel de las muestras de cada clase</a:t>
            </a:r>
          </a:p>
        </p:txBody>
      </p:sp>
      <p:pic>
        <p:nvPicPr>
          <p:cNvPr id="7" name="Picture 6" descr="media_por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680960" cy="1173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417320"/>
            <a:ext cx="3657600" cy="18288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417320"/>
            <a:ext cx="73152" cy="18288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472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QUÉ MIDE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764792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Si las muestras de una clase comparten</a:t>
            </a:r>
          </a:p>
          <a:p>
            <a:r>
              <a:rPr sz="1100">
                <a:solidFill>
                  <a:srgbClr val="333333"/>
                </a:solidFill>
              </a:rPr>
              <a:t>forma típica → la media es nítida.</a:t>
            </a:r>
          </a:p>
          <a:p>
            <a:r>
              <a:rPr sz="1100">
                <a:solidFill>
                  <a:srgbClr val="333333"/>
                </a:solidFill>
              </a:rPr>
              <a:t>Si hay alta variabilidad → media borrosa.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3657600" cy="22860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3383280"/>
            <a:ext cx="73152" cy="22860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34381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QUÉ VEMOS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730752"/>
            <a:ext cx="33832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Todas las medias son nítidas y</a:t>
            </a:r>
          </a:p>
          <a:p>
            <a:r>
              <a:rPr sz="1100">
                <a:solidFill>
                  <a:srgbClr val="333333"/>
                </a:solidFill>
              </a:rPr>
              <a:t>reconocibles como el dígito correspondiente</a:t>
            </a:r>
          </a:p>
          <a:p>
            <a:r>
              <a:rPr sz="1100">
                <a:solidFill>
                  <a:srgbClr val="333333"/>
                </a:solidFill>
              </a:rPr>
              <a:t>→ señal suficiente dentro de cada clase</a:t>
            </a:r>
          </a:p>
          <a:p>
            <a:r>
              <a:rPr sz="1100">
                <a:solidFill>
                  <a:srgbClr val="333333"/>
                </a:solidFill>
              </a:rPr>
              <a:t>para que el MLP pueda aprender.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Estructura compartida dentro de cada clase → hay señal aprendible. El problema no es separabilidad, es generalizar a estilos nuevos.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Imagen media · DESPUÉS de z-score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Imagen media por clase — espacio normalizado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x' = (x − μⱼ) / σⱼ · fit-on-train para evitar leakage</a:t>
            </a:r>
          </a:p>
        </p:txBody>
      </p:sp>
      <p:pic>
        <p:nvPicPr>
          <p:cNvPr id="7" name="Picture 6" descr="media_normaliz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680960" cy="1280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417320"/>
            <a:ext cx="3657600" cy="219456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417320"/>
            <a:ext cx="73152" cy="21945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472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CÓMO LEER LOS COLORES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76479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Rojo (z &gt; 0): píxeles que esta clase</a:t>
            </a:r>
          </a:p>
          <a:p>
            <a:r>
              <a:rPr sz="1100">
                <a:solidFill>
                  <a:srgbClr val="333333"/>
                </a:solidFill>
              </a:rPr>
              <a:t>  activa MÁS que el promedio.</a:t>
            </a:r>
          </a:p>
          <a:p>
            <a:r>
              <a:rPr sz="1100">
                <a:solidFill>
                  <a:srgbClr val="333333"/>
                </a:solidFill>
              </a:rPr>
              <a:t>• Azul (z &lt; 0): píxeles que activa MENOS.</a:t>
            </a:r>
          </a:p>
          <a:p>
            <a:r>
              <a:rPr sz="1100">
                <a:solidFill>
                  <a:srgbClr val="333333"/>
                </a:solidFill>
              </a:rPr>
              <a:t>→ visualiza qué regiones distinguen cada clase.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703320"/>
            <a:ext cx="3657600" cy="201168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3703320"/>
            <a:ext cx="73152" cy="201168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3758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QUÉ GANAMOS CON LA NORMALIZACIÓN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4050792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Todos los píxeles en escala comparable</a:t>
            </a:r>
          </a:p>
          <a:p>
            <a:r>
              <a:rPr sz="1100">
                <a:solidFill>
                  <a:srgbClr val="333333"/>
                </a:solidFill>
              </a:rPr>
              <a:t>  (media 0, std 1).</a:t>
            </a:r>
          </a:p>
          <a:p>
            <a:r>
              <a:rPr sz="1100">
                <a:solidFill>
                  <a:srgbClr val="333333"/>
                </a:solidFill>
              </a:rPr>
              <a:t>• Estabiliza el entrenamiento por gradientes.</a:t>
            </a:r>
          </a:p>
          <a:p>
            <a:r>
              <a:rPr sz="1100">
                <a:solidFill>
                  <a:srgbClr val="333333"/>
                </a:solidFill>
              </a:rPr>
              <a:t>• Permite que He/Xavier inicialicen como</a:t>
            </a:r>
          </a:p>
          <a:p>
            <a:r>
              <a:rPr sz="1100">
                <a:solidFill>
                  <a:srgbClr val="333333"/>
                </a:solidFill>
              </a:rPr>
              <a:t>  asume su derivación teórica.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Z-score CONSERVA la estructura (formas reconocibles) y estabiliza el entrenamiento.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Decisiones que surgen del preánalisis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Cómo el dataset condiciona la metodología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Cada decisión deriva de las anomalías encontradas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11521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35269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Decisión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Justificación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Capa de salida: 9 neuronas (HP search)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Sólo hay 9 clases en digits.csv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Métrica principal: val_acc + macro_F1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Dataset desbalanceado (clase 5, n=271)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Reportar Precision/Recall por clase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Detectar si el modelo falla en la clase 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Normalización z-score fit-on-train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Evita data leakage en K-fold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K-fold estratificado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Mantiene la proporción de la clase 5 en cada fold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digits_test.csv intocado durante HP search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Es producción — se evalúa UNA sola vez al cerrar Ej2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3977639"/>
            <a:ext cx="11521440" cy="18288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977639"/>
            <a:ext cx="73152" cy="18288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032503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POR QUÉ MACRO Y NO MICRO / WEIGHTED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25111"/>
            <a:ext cx="11247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micro_f1 ≡ accuracy en multiclase con argmax → redundante.</a:t>
            </a:r>
          </a:p>
          <a:p>
            <a:r>
              <a:rPr sz="1100">
                <a:solidFill>
                  <a:srgbClr val="333333"/>
                </a:solidFill>
              </a:rPr>
              <a:t>• weighted_f1 pondera por frecuencia → penaliza menos los errores en clase rara (LO OPUESTO de lo que queremos).</a:t>
            </a:r>
          </a:p>
          <a:p>
            <a:r>
              <a:rPr sz="1100">
                <a:solidFill>
                  <a:srgbClr val="333333"/>
                </a:solidFill>
              </a:rPr>
              <a:t>• macro_f1 pesa igual cada clase → es el que defendemos (regla 4 del CLAUDE.md, clase de métricas).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El dataset dicta la metodología — macro_F1 y estratificación no son “por defecto”, son consecuencias del desbalance.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1ª tanda · sweep de optimizadores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Sweep de optimizadores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Comparar SGD vs Momentum vs Adam con arch y batch fijos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31089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Arch: [784, 100, 50, 10]</a:t>
            </a:r>
          </a:p>
          <a:p>
            <a:r>
              <a:rPr sz="1100">
                <a:solidFill>
                  <a:srgbClr val="333333"/>
                </a:solidFill>
              </a:rPr>
              <a:t>•  Activaciones: relu, relu, softmax</a:t>
            </a:r>
          </a:p>
          <a:p>
            <a:r>
              <a:rPr sz="1100">
                <a:solidFill>
                  <a:srgbClr val="333333"/>
                </a:solidFill>
              </a:rPr>
              <a:t>•  Loss: cross-entropy (+ softmax)</a:t>
            </a:r>
          </a:p>
          <a:p>
            <a:r>
              <a:rPr sz="1100">
                <a:solidFill>
                  <a:srgbClr val="333333"/>
                </a:solidFill>
              </a:rPr>
              <a:t>•  LRs: 1e-4, 5e-4, 1e-3, 5e-3, 1e-2</a:t>
            </a:r>
          </a:p>
          <a:p>
            <a:r>
              <a:rPr sz="1100">
                <a:solidFill>
                  <a:srgbClr val="333333"/>
                </a:solidFill>
              </a:rPr>
              <a:t>•  Batch = 32 · max epochs = 70</a:t>
            </a:r>
          </a:p>
          <a:p>
            <a:r>
              <a:rPr sz="1100">
                <a:solidFill>
                  <a:srgbClr val="333333"/>
                </a:solidFill>
              </a:rPr>
              <a:t>•  Seeds × Folds = 5 × 5 = 25</a:t>
            </a:r>
          </a:p>
          <a:p>
            <a:r>
              <a:rPr sz="1100">
                <a:solidFill>
                  <a:srgbClr val="333333"/>
                </a:solidFill>
              </a:rPr>
              <a:t>•  Opts: SGD · Momentum (β=0.9) ·</a:t>
            </a:r>
          </a:p>
          <a:p>
            <a:r>
              <a:rPr sz="1100">
                <a:solidFill>
                  <a:srgbClr val="333333"/>
                </a:solidFill>
              </a:rPr>
              <a:t>•         Adam (β1=0.9, β2=0.999)</a:t>
            </a:r>
          </a:p>
        </p:txBody>
      </p:sp>
      <p:pic>
        <p:nvPicPr>
          <p:cNvPr id="8" name="Picture 7" descr="val_acc_vs_epoch_per_optim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222034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617720"/>
            <a:ext cx="11521440" cy="128016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617720"/>
            <a:ext cx="73152" cy="12801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67258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HALLAZGO QUE ABRE LA 2ª TANDA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651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Adam converge en 3-5 épocas vs ~20 de Momentum vs &gt;40 de SGD.</a:t>
            </a:r>
          </a:p>
          <a:p>
            <a:r>
              <a:rPr sz="1100">
                <a:solidFill>
                  <a:srgbClr val="333333"/>
                </a:solidFill>
              </a:rPr>
              <a:t>Pero Adam se desestabiliza con LR ≥ 5e-3 mientras SGD/Momentum siguen tolerando LR alto.</a:t>
            </a:r>
          </a:p>
          <a:p>
            <a:r>
              <a:rPr sz="1100">
                <a:solidFill>
                  <a:srgbClr val="333333"/>
                </a:solidFill>
              </a:rPr>
              <a:t>→ Sospecha: el techo de Adam quizás no es del optimizador, sino del producto LR×batch (regla de la clase de optimizadores).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Sospecha levantada: ¿el techo de Adam es del optimizador o del producto LR×batch? — motiva la 2ª tanda.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2ª tanda · Pre LR × Batch × 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Pre-experimento LR × Batch × 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Confirmar empíricamente la regla LR ↔ batch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31089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Stage 1 del cross_v1</a:t>
            </a:r>
          </a:p>
          <a:p>
            <a:r>
              <a:rPr sz="1100">
                <a:solidFill>
                  <a:srgbClr val="333333"/>
                </a:solidFill>
              </a:rPr>
              <a:t>•  Arch: base [784,100,50,10]</a:t>
            </a:r>
          </a:p>
          <a:p>
            <a:r>
              <a:rPr sz="1100">
                <a:solidFill>
                  <a:srgbClr val="333333"/>
                </a:solidFill>
              </a:rPr>
              <a:t>•  LRs: 5e-4, 1e-3, 5e-3</a:t>
            </a:r>
          </a:p>
          <a:p>
            <a:r>
              <a:rPr sz="1100">
                <a:solidFill>
                  <a:srgbClr val="333333"/>
                </a:solidFill>
              </a:rPr>
              <a:t>•  Batches: 16, 32, 64, 128, 256</a:t>
            </a:r>
          </a:p>
          <a:p>
            <a:r>
              <a:rPr sz="1100">
                <a:solidFill>
                  <a:srgbClr val="333333"/>
                </a:solidFill>
              </a:rPr>
              <a:t>•  Opts: SGD, Momentum, Adam</a:t>
            </a:r>
          </a:p>
          <a:p>
            <a:r>
              <a:rPr sz="1100">
                <a:solidFill>
                  <a:srgbClr val="333333"/>
                </a:solidFill>
              </a:rPr>
              <a:t>•  Seeds × Folds = 3 × 5</a:t>
            </a:r>
          </a:p>
          <a:p>
            <a:r>
              <a:rPr sz="1100">
                <a:solidFill>
                  <a:srgbClr val="333333"/>
                </a:solidFill>
              </a:rPr>
              <a:t>•  max epochs adaptado por (opt, LR)</a:t>
            </a:r>
          </a:p>
          <a:p>
            <a:r>
              <a:rPr sz="1100">
                <a:solidFill>
                  <a:srgbClr val="333333"/>
                </a:solidFill>
              </a:rPr>
              <a:t>•  ES patience = 20</a:t>
            </a:r>
          </a:p>
        </p:txBody>
      </p:sp>
      <p:pic>
        <p:nvPicPr>
          <p:cNvPr id="8" name="Picture 7" descr="stage1_heatmap_val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617720"/>
            <a:ext cx="11521440" cy="128016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617720"/>
            <a:ext cx="73152" cy="12801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67258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RESULTADO 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651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Adam@5e-3 con batch=256 es estable (val_loss=0.191). Con batch=16 no converge (val_loss=0.550).</a:t>
            </a:r>
          </a:p>
          <a:p>
            <a:r>
              <a:rPr sz="1100">
                <a:solidFill>
                  <a:srgbClr val="333333"/>
                </a:solidFill>
              </a:rPr>
              <a:t>→ Confirma la sospecha: el techo de Adam NO es del optimizador, es del PRODUCTO LR×batch.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Confirmado: lo que rompía Adam@LR alto era LR×batch fuera de rango. Decisión: batch=64 para Adam@1e-3 en el grid principal.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Regla LR ↔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Regla LR ↔ batch — visualización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Sólo Adam tiene sensibilidad fuerte al producto LR×batch</a:t>
            </a:r>
          </a:p>
        </p:txBody>
      </p:sp>
      <p:pic>
        <p:nvPicPr>
          <p:cNvPr id="7" name="Picture 6" descr="lr_batch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589520" cy="31498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417320"/>
            <a:ext cx="3657600" cy="18288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417320"/>
            <a:ext cx="73152" cy="18288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472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ADAM@5e-3 — DEPENDE DEL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764792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batch 16 → 32 → 256</a:t>
            </a:r>
          </a:p>
          <a:p>
            <a:r>
              <a:rPr sz="1100">
                <a:solidFill>
                  <a:srgbClr val="333333"/>
                </a:solidFill>
              </a:rPr>
              <a:t>val_loss: 0.55 → 0.36 → 0.19</a:t>
            </a:r>
          </a:p>
          <a:p>
            <a:r>
              <a:rPr sz="1100">
                <a:solidFill>
                  <a:srgbClr val="333333"/>
                </a:solidFill>
              </a:rPr>
              <a:t>val_acc:  0.934 → 0.948 → 0.954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3657600" cy="173736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3383280"/>
            <a:ext cx="73152" cy="17373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34381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ADAM EN SU ÓPTIMO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730752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Adam@5e-4 y Adam@1e-3 ya estables.</a:t>
            </a:r>
          </a:p>
          <a:p>
            <a:r>
              <a:rPr sz="1100">
                <a:solidFill>
                  <a:srgbClr val="333333"/>
                </a:solidFill>
              </a:rPr>
              <a:t>Curvas planas vs batch → no mueve la aguja</a:t>
            </a:r>
          </a:p>
          <a:p>
            <a:r>
              <a:rPr sz="1100">
                <a:solidFill>
                  <a:srgbClr val="333333"/>
                </a:solidFill>
              </a:rPr>
              <a:t>porque el LR ya era el correcto.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5166360"/>
            <a:ext cx="3657600" cy="6858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5166360"/>
            <a:ext cx="73152" cy="6858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5221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SGD / MOMENTUM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55138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Sensibilidad MUCHO menor al batch.</a:t>
            </a:r>
          </a:p>
          <a:p>
            <a:r>
              <a:rPr sz="1100">
                <a:solidFill>
                  <a:srgbClr val="333333"/>
                </a:solidFill>
              </a:rPr>
              <a:t>Más robustos a errores en HP.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Patrón exactamente predicho por la clase de optimizadores: Adam adapta el paso por parámetro → es sensible a LR×batch.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Grid principal LR × Opt × Arch (stage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Grid 3D — LR × Opt × 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60 celdas = 5 LRs × 3 opts × 4 archs · 3 seeds × k=5 = 15 corridas/celda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34747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Archs:</a:t>
            </a:r>
          </a:p>
          <a:p>
            <a:r>
              <a:rPr sz="1100">
                <a:solidFill>
                  <a:srgbClr val="333333"/>
                </a:solidFill>
              </a:rPr>
              <a:t>•    shallow [784,128,10]</a:t>
            </a:r>
          </a:p>
          <a:p>
            <a:r>
              <a:rPr sz="1100">
                <a:solidFill>
                  <a:srgbClr val="333333"/>
                </a:solidFill>
              </a:rPr>
              <a:t>•    base    [784,100,50,10]</a:t>
            </a:r>
          </a:p>
          <a:p>
            <a:r>
              <a:rPr sz="1100">
                <a:solidFill>
                  <a:srgbClr val="333333"/>
                </a:solidFill>
              </a:rPr>
              <a:t>•    wider   [784,200,100,10]</a:t>
            </a:r>
          </a:p>
          <a:p>
            <a:r>
              <a:rPr sz="1100">
                <a:solidFill>
                  <a:srgbClr val="333333"/>
                </a:solidFill>
              </a:rPr>
              <a:t>•    deeper  [784,128,64,32,10]</a:t>
            </a:r>
          </a:p>
          <a:p>
            <a:r>
              <a:rPr sz="1100">
                <a:solidFill>
                  <a:srgbClr val="333333"/>
                </a:solidFill>
              </a:rPr>
              <a:t>•  Activaciones: relu (+ softmax)</a:t>
            </a:r>
          </a:p>
          <a:p>
            <a:r>
              <a:rPr sz="1100">
                <a:solidFill>
                  <a:srgbClr val="333333"/>
                </a:solidFill>
              </a:rPr>
              <a:t>•  Init: He (auto)</a:t>
            </a:r>
          </a:p>
          <a:p>
            <a:r>
              <a:rPr sz="1100">
                <a:solidFill>
                  <a:srgbClr val="333333"/>
                </a:solidFill>
              </a:rPr>
              <a:t>•  Batch = best_batch[(opt,LR)] del stage 1</a:t>
            </a:r>
          </a:p>
          <a:p>
            <a:r>
              <a:rPr sz="1100">
                <a:solidFill>
                  <a:srgbClr val="333333"/>
                </a:solidFill>
              </a:rPr>
              <a:t>•  ES patience = 20</a:t>
            </a:r>
          </a:p>
        </p:txBody>
      </p:sp>
      <p:pic>
        <p:nvPicPr>
          <p:cNvPr id="8" name="Picture 7" descr="stage2_val_acc_vs_lr_per_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029200"/>
            <a:ext cx="11521440" cy="9144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5029200"/>
            <a:ext cx="73152" cy="9144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0840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VISTA MARGINAL POR OPTIMIZER (best-over-arch)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766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Adam pica en 1e-3 en las 4 archs (rango operativo estrecho).</a:t>
            </a:r>
          </a:p>
          <a:p>
            <a:r>
              <a:rPr sz="1100">
                <a:solidFill>
                  <a:srgbClr val="333333"/>
                </a:solidFill>
              </a:rPr>
              <a:t>SGD pica en 1e-2 (plateau desde 5e-4 — robusto al HP).</a:t>
            </a:r>
          </a:p>
          <a:p>
            <a:r>
              <a:rPr sz="1100">
                <a:solidFill>
                  <a:srgbClr val="333333"/>
                </a:solidFill>
              </a:rPr>
              <a:t>Momentum se desplaza según arch — única interacción fuerte del grid.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Adam domina pero es FRÁGIL: rango operativo estrecho. SGD/Momentum perdonan errores en HP pero techo más bajo.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LR × Opt (un panel por 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LR × Opt — desagregado por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¿Hay interacción LR × Opt × Arch?</a:t>
            </a:r>
          </a:p>
        </p:txBody>
      </p:sp>
      <p:pic>
        <p:nvPicPr>
          <p:cNvPr id="7" name="Picture 6" descr="lr_opt_val_acc_4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498079" cy="23840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417320"/>
            <a:ext cx="3840480" cy="13716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417320"/>
            <a:ext cx="73152" cy="13716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4721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SGD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1764792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Patrón idéntico en las 4 archs.</a:t>
            </a:r>
          </a:p>
          <a:p>
            <a:r>
              <a:rPr sz="1100">
                <a:solidFill>
                  <a:srgbClr val="333333"/>
                </a:solidFill>
              </a:rPr>
              <a:t>Salto grande 1e-4 → 5e-4, después plateau.</a:t>
            </a:r>
          </a:p>
          <a:p>
            <a:r>
              <a:rPr sz="1100">
                <a:solidFill>
                  <a:srgbClr val="333333"/>
                </a:solidFill>
              </a:rPr>
              <a:t>SIN interacción con 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880360"/>
            <a:ext cx="3840480" cy="16916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880360"/>
            <a:ext cx="73152" cy="169164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9352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MOMENTUM — interacción CLARA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227832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shallow/wider (última hidden 128) toleran LR=1e-2.</a:t>
            </a:r>
          </a:p>
          <a:p>
            <a:r>
              <a:rPr sz="1100">
                <a:solidFill>
                  <a:srgbClr val="333333"/>
                </a:solidFill>
              </a:rPr>
              <a:t>base/deeper (capa más estrecha) se rompen.</a:t>
            </a:r>
          </a:p>
          <a:p>
            <a:r>
              <a:rPr sz="1100">
                <a:solidFill>
                  <a:srgbClr val="333333"/>
                </a:solidFill>
              </a:rPr>
              <a:t>Mecanismo: capa estrecha = cada peso pesa</a:t>
            </a:r>
          </a:p>
          <a:p>
            <a:r>
              <a:rPr sz="1100">
                <a:solidFill>
                  <a:srgbClr val="333333"/>
                </a:solidFill>
              </a:rPr>
              <a:t>más en la salida → LR alto desestabiliza.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663440"/>
            <a:ext cx="3840480" cy="118872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663440"/>
            <a:ext cx="73152" cy="118872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7183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ADAM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501091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Shapes idénticas en las 4 archs:</a:t>
            </a:r>
          </a:p>
          <a:p>
            <a:r>
              <a:rPr sz="1100">
                <a:solidFill>
                  <a:srgbClr val="333333"/>
                </a:solidFill>
              </a:rPr>
              <a:t>pico en 1e-3, caída después.</a:t>
            </a:r>
          </a:p>
          <a:p>
            <a:r>
              <a:rPr sz="1100">
                <a:solidFill>
                  <a:srgbClr val="333333"/>
                </a:solidFill>
              </a:rPr>
              <a:t>Lo que cambia es la MAGNITUD del pico.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Última capa hidden ancha actúa como “buffer” ante LR alto. Es el mecanismo estructural de la interacción LR×Opt×Arch.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val_loss CE captura lo que la accuracy esconde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val_loss CE vs val_acc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Por qué reportamos las DOS (loss + métrica de clasificación)</a:t>
            </a:r>
          </a:p>
        </p:txBody>
      </p:sp>
      <p:pic>
        <p:nvPicPr>
          <p:cNvPr id="7" name="Picture 6" descr="lr_opt_val_loss_4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498079" cy="2290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417320"/>
            <a:ext cx="3840480" cy="1280160"/>
          </a:xfrm>
          <a:prstGeom prst="roundRect">
            <a:avLst>
              <a:gd name="adj" fmla="val 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−1 pp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Δ val_acc (1e-3 → 1e-2)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834640"/>
            <a:ext cx="3840480" cy="1280160"/>
          </a:xfrm>
          <a:prstGeom prst="roundRect">
            <a:avLst>
              <a:gd name="adj" fmla="val 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+46%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Δ val_loss CE (1e-3 → 1e-2)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251960"/>
            <a:ext cx="3840480" cy="16002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251960"/>
            <a:ext cx="73152" cy="16002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43068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POR QUÉ PASA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4599432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El argmax sigue cayendo a veces en la clase correcta</a:t>
            </a:r>
          </a:p>
          <a:p>
            <a:r>
              <a:rPr sz="1100">
                <a:solidFill>
                  <a:srgbClr val="333333"/>
                </a:solidFill>
              </a:rPr>
              <a:t>aunque las probabilidades estén totalmente desordenadas.</a:t>
            </a:r>
          </a:p>
          <a:p>
            <a:r>
              <a:rPr sz="1100">
                <a:solidFill>
                  <a:srgbClr val="333333"/>
                </a:solidFill>
              </a:rPr>
              <a:t>CE detecta la descalibración antes que la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CE responde “qué tan bien calibradas están las probabilidades”; accuracy responde “cuántas argmax acerté”. Son distintas (regla 4).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Arch × Opt (best-over-LR)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¿Hay arquitecturas especialistas de un optimizador?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Marginalizamos por “best-over-LR” (no “mean-over-LR”) para no contaminar con LRs sub-óptimos</a:t>
            </a:r>
          </a:p>
        </p:txBody>
      </p:sp>
      <p:pic>
        <p:nvPicPr>
          <p:cNvPr id="7" name="Picture 6" descr="arch_opt_best_l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675120" cy="29044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23760" y="1417320"/>
            <a:ext cx="4663440" cy="118872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417320"/>
            <a:ext cx="73152" cy="118872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14721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1 · ADAM DOMINA LAS 4 ARCHS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8" y="176479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Entre +0.003 y +0.004 sobre el 2° mejor opt.</a:t>
            </a:r>
          </a:p>
          <a:p>
            <a:r>
              <a:rPr sz="1100">
                <a:solidFill>
                  <a:srgbClr val="333333"/>
                </a:solidFill>
              </a:rPr>
              <a:t>Ninguna arch prefiere Mom o SGD sobre Adam.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697480"/>
            <a:ext cx="4663440" cy="118872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2697480"/>
            <a:ext cx="73152" cy="118872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8" y="27523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2 · WIDER ES ESPECIALISTA DE ADAM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304495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Techo absoluto (0.9583) con Adam@1e-3.</a:t>
            </a:r>
          </a:p>
          <a:p>
            <a:r>
              <a:rPr sz="1100">
                <a:solidFill>
                  <a:srgbClr val="333333"/>
                </a:solidFill>
              </a:rPr>
              <a:t>Pero queda 2°/3° con SGD y Momentum.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3977639"/>
            <a:ext cx="4663440" cy="118872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3977639"/>
            <a:ext cx="73152" cy="118872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8" y="4032503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3 · SHALLOW ES “TODO TERRENO”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4325111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★ en SGD y ★ en Momentum.</a:t>
            </a:r>
          </a:p>
          <a:p>
            <a:r>
              <a:rPr sz="1100">
                <a:solidFill>
                  <a:srgbClr val="333333"/>
                </a:solidFill>
              </a:rPr>
              <a:t>Empata con wider en Adam (tiebreaker más tarde).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5257800"/>
            <a:ext cx="4663440" cy="9144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5257800"/>
            <a:ext cx="73152" cy="9144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4928" y="53126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4 · DEEPER ES SIEMPRE PEOR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560527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Última en las 3 columnas de opt.</a:t>
            </a:r>
          </a:p>
          <a:p>
            <a:r>
              <a:rPr sz="1100">
                <a:solidFill>
                  <a:srgbClr val="333333"/>
                </a:solidFill>
              </a:rPr>
              <a:t>Profundidad sin batch-norm penaliza la propagación de gradientes.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Adam domina las 4 archs; wider es especialista de Adam; shallow es robusta al swap de opt; deeper es siempre peor.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Comparativa head-to-head de optimizadores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Mejor configuración de cada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Lo que se gana o se pierde con cada optimizador</a:t>
            </a:r>
          </a:p>
        </p:txBody>
      </p:sp>
      <p:pic>
        <p:nvPicPr>
          <p:cNvPr id="7" name="Picture 6" descr="family_comparis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675120" cy="221541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78040" y="141732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best(arch@LR)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val_acc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val_loss CE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best_epoch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SGD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shallow @ 1e-2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0.9509 ± 0.0053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0.194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18.6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0.163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Momentum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shallow @ 1e-2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0.9543 ± 0.0062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0.234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4.7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0.215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Adam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wider @ 1e-3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0.9583 ± 0.0036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0.170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3.4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0.155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78040" y="3429000"/>
            <a:ext cx="4754880" cy="242316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3429000"/>
            <a:ext cx="73152" cy="24231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34838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ADAM GANA EN LAS 3 MÉTRICAS QUE IMPORTAN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3776472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Accuracy · calibración (CE) · sobreajuste (gap) — Y además es más rápido que SGD (~4× en wall-clock).</a:t>
            </a:r>
          </a:p>
          <a:p>
            <a:r>
              <a:rPr sz="1100">
                <a:solidFill>
                  <a:srgbClr val="333333"/>
                </a:solidFill>
              </a:rPr>
              <a:t>Única ventaja real de Mom/SGD: robustez al HP — útil si NO se hizo HP search. Acá ese costo ya está pagado.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Adam gana en accuracy, calibración, sobreajuste y velocidad. El HP search ya pagó el costo de la fragilidad de Adam.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Stage 2b · estrella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Estrella batch sobre el centro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Confirmar que batch=64 es el óptimo (no un máximo entre puntos espaciados)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22860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Centro: shallow + Adam + LR=1e-3</a:t>
            </a:r>
          </a:p>
          <a:p>
            <a:r>
              <a:rPr sz="1100">
                <a:solidFill>
                  <a:srgbClr val="333333"/>
                </a:solidFill>
              </a:rPr>
              <a:t>•  Variar SÓLO batch: 16, 32, 64, 128, 256</a:t>
            </a:r>
          </a:p>
          <a:p>
            <a:r>
              <a:rPr sz="1100">
                <a:solidFill>
                  <a:srgbClr val="333333"/>
                </a:solidFill>
              </a:rPr>
              <a:t>•  3 seeds × k=5 = 15 corridas / batch</a:t>
            </a:r>
          </a:p>
          <a:p>
            <a:r>
              <a:rPr sz="1100">
                <a:solidFill>
                  <a:srgbClr val="333333"/>
                </a:solidFill>
              </a:rPr>
              <a:t>•  Resto fijo en el centro</a:t>
            </a:r>
          </a:p>
          <a:p>
            <a:r>
              <a:rPr sz="1100">
                <a:solidFill>
                  <a:srgbClr val="333333"/>
                </a:solidFill>
              </a:rPr>
              <a:t>•  ES patience = 20</a:t>
            </a:r>
          </a:p>
        </p:txBody>
      </p:sp>
      <p:pic>
        <p:nvPicPr>
          <p:cNvPr id="8" name="Picture 7" descr="stage2b_val_acc_vs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4572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840480"/>
          <a:ext cx="11521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52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batch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val_acc (15 corridas)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macro_F1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val_loss CE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best_epoch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0.9540 ± 0.0036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0.8477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0.1785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2.3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0.9568 ± 0.0054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0.8510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0.1700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3.9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64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0.9572 ± 0.0041 ★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0.8521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0.1701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5.7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0.9556 ± 0.0045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0.8502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0.1742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7.8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256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0.9548 ± 0.0045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0.8493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0.1771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11.2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Curva unimodal con pico claro en batch=64 — el óptimo del pre-experimento queda confirmado al detalle.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Arch tiebreaker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Wider vs Shallow — desempate estadístico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Top-2 del grid empatadas con Δ=0.0011 · subimos a 15 seeds para distinguir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22860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Tiebreaker: shallow vs wider</a:t>
            </a:r>
          </a:p>
          <a:p>
            <a:r>
              <a:rPr sz="1100">
                <a:solidFill>
                  <a:srgbClr val="333333"/>
                </a:solidFill>
              </a:rPr>
              <a:t>•  Opt: Adam · LR: {5e-4, 1e-3}</a:t>
            </a:r>
          </a:p>
          <a:p>
            <a:r>
              <a:rPr sz="1100">
                <a:solidFill>
                  <a:srgbClr val="333333"/>
                </a:solidFill>
              </a:rPr>
              <a:t>•  12 seeds NUEVOS + 3 previos = 15</a:t>
            </a:r>
          </a:p>
          <a:p>
            <a:r>
              <a:rPr sz="1100">
                <a:solidFill>
                  <a:srgbClr val="333333"/>
                </a:solidFill>
              </a:rPr>
              <a:t>•  k=5 → 75 corridas/celda</a:t>
            </a:r>
          </a:p>
          <a:p>
            <a:r>
              <a:rPr sz="1100">
                <a:solidFill>
                  <a:srgbClr val="333333"/>
                </a:solidFill>
              </a:rPr>
              <a:t>•  SEM ≈ 0.0006 (resuelve Δ ≥ 0.0014)</a:t>
            </a:r>
          </a:p>
        </p:txBody>
      </p:sp>
      <p:pic>
        <p:nvPicPr>
          <p:cNvPr id="8" name="Picture 7" descr="tiebreaker_val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299258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384048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z = 0.65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shallow vs wider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84048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0.9576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shallow · 75 corridas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84048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0.9581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wider · 75 corridas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166360"/>
            <a:ext cx="11521440" cy="7772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166360"/>
            <a:ext cx="73152" cy="77724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22122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RESOLUCIÓN POR OCCAM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5138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Empate estadístico (necesitábamos |z| &gt; 1.96). Entre dos archs indistinguibles, se elige la de MENOS parámetros:</a:t>
            </a:r>
          </a:p>
          <a:p>
            <a:r>
              <a:rPr sz="1100">
                <a:solidFill>
                  <a:srgbClr val="333333"/>
                </a:solidFill>
              </a:rPr>
              <a:t>shallow ≈ 101k params  ·  wider ≈ 235k params  →  GANADOR: shallow.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z = 0.65 → empate estadístico. Occam decide: shallow (menos params, menos riesgo de overfit).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Configuración óptima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Configuración óptima del Ej2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Decisión congelada al cerrar la 2ª tanda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11430000" cy="1554480"/>
          </a:xfrm>
          <a:prstGeom prst="roundRect">
            <a:avLst>
              <a:gd name="adj" fmla="val 6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3716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arch_shallow  [784, 128, 10]   +   Adam  (β1=0.9, β2=0.999, ε=1e-8)</a:t>
            </a:r>
          </a:p>
          <a:p>
            <a:pPr algn="ctr"/>
            <a:r>
              <a:rPr sz="2200" b="1">
                <a:solidFill>
                  <a:srgbClr val="FFFFFF"/>
                </a:solidFill>
              </a:rPr>
              <a:t>LR = 1e-3      ·      batch =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08960"/>
            <a:ext cx="6583680" cy="27432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108960"/>
            <a:ext cx="73152" cy="27432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163824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CADENA DE DECISIONES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56432"/>
            <a:ext cx="6309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1. Grid LR×Opt×Arch → Adam domina las 4 archs.</a:t>
            </a:r>
          </a:p>
          <a:p>
            <a:r>
              <a:rPr sz="1100">
                <a:solidFill>
                  <a:srgbClr val="333333"/>
                </a:solidFill>
              </a:rPr>
              <a:t>2. Dentro de Adam, top-2 = wider y shallow.</a:t>
            </a:r>
          </a:p>
          <a:p>
            <a:r>
              <a:rPr sz="1100">
                <a:solidFill>
                  <a:srgbClr val="333333"/>
                </a:solidFill>
              </a:rPr>
              <a:t>3. Tiebreaker 75 corridas → z=0.65 → EMPATE estadístico.</a:t>
            </a:r>
          </a:p>
          <a:p>
            <a:r>
              <a:rPr sz="1100">
                <a:solidFill>
                  <a:srgbClr val="333333"/>
                </a:solidFill>
              </a:rPr>
              <a:t>4. OCCAM → arch_shallow (101k vs 235k params).</a:t>
            </a:r>
          </a:p>
          <a:p>
            <a:r>
              <a:rPr sz="1100">
                <a:solidFill>
                  <a:srgbClr val="333333"/>
                </a:solidFill>
              </a:rPr>
              <a:t>5. LR óptimo de Adam = 1e-3 en las 4 archs.</a:t>
            </a:r>
          </a:p>
          <a:p>
            <a:r>
              <a:rPr sz="1100">
                <a:solidFill>
                  <a:srgbClr val="333333"/>
                </a:solidFill>
              </a:rPr>
              <a:t>6. batch=64 confirmado por estrella batch.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108960"/>
            <a:ext cx="4846320" cy="27432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3108960"/>
            <a:ext cx="73152" cy="27432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31638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MÉTRICAS DEL CV INTERNO (15 corridas)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3456432"/>
            <a:ext cx="4572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val_acc       = 0.9572 ± 0.0041</a:t>
            </a:r>
          </a:p>
          <a:p>
            <a:r>
              <a:rPr sz="1100">
                <a:solidFill>
                  <a:srgbClr val="333333"/>
                </a:solidFill>
              </a:rPr>
              <a:t>macro_F1      = 0.8521 ± 0.0067</a:t>
            </a:r>
          </a:p>
          <a:p>
            <a:r>
              <a:rPr sz="1100">
                <a:solidFill>
                  <a:srgbClr val="333333"/>
                </a:solidFill>
              </a:rPr>
              <a:t>val_loss CE   = 0.1701</a:t>
            </a:r>
          </a:p>
          <a:p>
            <a:r>
              <a:rPr sz="1100">
                <a:solidFill>
                  <a:srgbClr val="333333"/>
                </a:solidFill>
              </a:rPr>
              <a:t>best_epoch    = 5.7 ± 1.6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>
                <a:solidFill>
                  <a:srgbClr val="333333"/>
                </a:solidFill>
              </a:rPr>
              <a:t>Promedio sobre 3 seeds × 5 folds estratificados.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Convergencia de la config óptima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Convergencia del óptimo · CV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15 epoch_histories agregados (3 seeds × 5 folds)</a:t>
            </a:r>
          </a:p>
        </p:txBody>
      </p:sp>
      <p:pic>
        <p:nvPicPr>
          <p:cNvPr id="7" name="Picture 6" descr="optimal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498079" cy="19429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417320"/>
            <a:ext cx="3840480" cy="155448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417320"/>
            <a:ext cx="73152" cy="155448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4721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ES BIEN CALIBRADO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1764792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best_epoch = 5.7 ± 1.6</a:t>
            </a:r>
          </a:p>
          <a:p>
            <a:r>
              <a:rPr sz="1100">
                <a:solidFill>
                  <a:srgbClr val="333333"/>
                </a:solidFill>
              </a:rPr>
              <a:t>stop_epoch = 25.7 ± 1.6  ≈  best + patience(20)</a:t>
            </a:r>
          </a:p>
          <a:p>
            <a:r>
              <a:rPr sz="1100">
                <a:solidFill>
                  <a:srgbClr val="333333"/>
                </a:solidFill>
              </a:rPr>
              <a:t>0/15 corridas tocaron max_epochs=40.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017520"/>
            <a:ext cx="3840480" cy="13716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017520"/>
            <a:ext cx="73152" cy="13716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30723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TRAIN MEMORIZA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364992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train_loss: 0.17 → 0.005 en ~10 ép.</a:t>
            </a:r>
          </a:p>
          <a:p>
            <a:r>
              <a:rPr sz="1100">
                <a:solidFill>
                  <a:srgbClr val="333333"/>
                </a:solidFill>
              </a:rPr>
              <a:t>train_acc → 0.9979 (capacidad de sobra).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434840"/>
            <a:ext cx="3840480" cy="13716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434840"/>
            <a:ext cx="73152" cy="137160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4897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VAL TIENE TECHO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782312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val_loss mínimo ≈ 0.170 en ép. 5.7.</a:t>
            </a:r>
          </a:p>
          <a:p>
            <a:r>
              <a:rPr sz="1100">
                <a:solidFill>
                  <a:srgbClr val="333333"/>
                </a:solidFill>
              </a:rPr>
              <a:t>Después sube ligeramente.</a:t>
            </a:r>
          </a:p>
          <a:p>
            <a:r>
              <a:rPr sz="1100">
                <a:solidFill>
                  <a:srgbClr val="333333"/>
                </a:solidFill>
              </a:rPr>
              <a:t>→ techo del dataset, no del modelo.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val_acc = 0.957 NO es techo de Adam ni del LR. Es techo del DATASET sin regularización — motiva el Ej3.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Generalización interna ·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Generalización interna (CV sobre digits.csv)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Métricas del fold de validación · media sobre 15 corridas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11521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Train (CV)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 (CV)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Gap val − train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accuracy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0.9979 ± 0.0023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0.9572 ± 0.0041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−0.041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macro_precision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(no almacenada)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0.8546 ± 0.0062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macro_recall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(no almacenada)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0.8502 ± 0.0078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macro_F1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(no almacenada)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0.8521 ± 0.0067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CE loss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0.0180 ± 0.0104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0.1701 ± 0.0170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+0.152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best_epoch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5.7 ± 1.6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114800"/>
            <a:ext cx="11521440" cy="173736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4114800"/>
            <a:ext cx="73152" cy="17373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1696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DIAGNÓSTICO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462272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train_acc = 0.998 → memoria casi perfecta → CAPACIDAD DE SOBRA.</a:t>
            </a:r>
          </a:p>
          <a:p>
            <a:r>
              <a:rPr sz="1100">
                <a:solidFill>
                  <a:srgbClr val="333333"/>
                </a:solidFill>
              </a:rPr>
              <a:t>• Brecha acc ↔ F1 (~10pp) es ESTRUCTURAL: clase 5 con 271 ejemplos arrastra macro_F1.</a:t>
            </a:r>
          </a:p>
          <a:p>
            <a:r>
              <a:rPr sz="1100">
                <a:solidFill>
                  <a:srgbClr val="333333"/>
                </a:solidFill>
              </a:rPr>
              <a:t>• Gap train → val: +0.041 acc, +0.152 CE → OVERFIT MODERADO esperable para ~101k params sobre 10k samples sin reg.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El modelo memoriza train pero el techo en val es del dataset, no del optimizador. F1 macro bajo = clase 5 desbalanceada.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EJ2 · Generalización externa · digits_test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Final eval sobre digits_test.csv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3 seeds · config congelada · evaluado UNA sola vez</a:t>
            </a:r>
          </a:p>
        </p:txBody>
      </p:sp>
      <p:pic>
        <p:nvPicPr>
          <p:cNvPr id="7" name="Picture 6" descr="optimal_t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217920" cy="37723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417320"/>
            <a:ext cx="5120640" cy="1280160"/>
          </a:xfrm>
          <a:prstGeom prst="roundRect">
            <a:avLst>
              <a:gd name="adj" fmla="val 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−10 pp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Δ accuracy val →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834640"/>
            <a:ext cx="2468880" cy="1188720"/>
          </a:xfrm>
          <a:prstGeom prst="roundRect">
            <a:avLst>
              <a:gd name="adj" fmla="val 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0.853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83464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0.806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test macro_F1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4160520"/>
            <a:ext cx="5120640" cy="16916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4160520"/>
            <a:ext cx="73152" cy="169164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42153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CAUSA ESTRUCTURAL — CLASE 8 AUSENTE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4507992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digits.csv tiene 0 ejemplos de clase 8.</a:t>
            </a:r>
          </a:p>
          <a:p>
            <a:r>
              <a:rPr sz="1100">
                <a:solidFill>
                  <a:srgbClr val="333333"/>
                </a:solidFill>
              </a:rPr>
              <a:t>digits_test.csv tiene 243 (9.7%) → IMPOSIBLES de acertar.</a:t>
            </a:r>
          </a:p>
          <a:p>
            <a:r>
              <a:rPr sz="1100">
                <a:solidFill>
                  <a:srgbClr val="333333"/>
                </a:solidFill>
              </a:rPr>
              <a:t>Excluyendo la clase 8: test_acc = 0.9448 ± 0.003</a:t>
            </a:r>
          </a:p>
          <a:p>
            <a:r>
              <a:rPr sz="1100">
                <a:solidFill>
                  <a:srgbClr val="333333"/>
                </a:solidFill>
              </a:rPr>
              <a:t>→ gap residual REAL = +1.2 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La caída de 10 pp es estructural del DATASET (clase 8 ausente), no del modelo. La intervención correcta: MÁS DATOS — Ej3.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CD8EE"/>
                </a:solidFill>
              </a:rPr>
              <a:t>TP3 · SIA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Ejercicio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EF3FA"/>
                </a:solidFill>
              </a:rPr>
              <a:t>Hacia ≥ 98% sobre digits_test.csv · más datos + regularización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D8EE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EJ3 · Plan y motivación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Plan y motivación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Por qué regularización y no “otra arquitectura”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23774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73152" cy="237744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721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PALANCA 1 — MÁS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64792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Sumar more_digits.csv al training:</a:t>
            </a:r>
          </a:p>
          <a:p>
            <a:r>
              <a:rPr sz="1200">
                <a:solidFill>
                  <a:srgbClr val="333333"/>
                </a:solidFill>
              </a:rPr>
              <a:t>• 585 ejemplos de la clase 8 (antes ausente)</a:t>
            </a:r>
          </a:p>
          <a:p>
            <a:r>
              <a:rPr sz="1200">
                <a:solidFill>
                  <a:srgbClr val="333333"/>
                </a:solidFill>
              </a:rPr>
              <a:t>• +542 ejemplos de la clase 5 (271 → 813)</a:t>
            </a:r>
          </a:p>
          <a:p>
            <a:r>
              <a:rPr sz="1200">
                <a:solidFill>
                  <a:srgbClr val="333333"/>
                </a:solidFill>
              </a:rPr>
              <a:t>• Total: 12.449 → 28.190 muestras</a:t>
            </a:r>
          </a:p>
          <a:p>
            <a:r>
              <a:rPr sz="1200">
                <a:solidFill>
                  <a:srgbClr val="333333"/>
                </a:solidFill>
              </a:rPr>
              <a:t/>
            </a:r>
          </a:p>
          <a:p>
            <a:r>
              <a:rPr sz="1200">
                <a:solidFill>
                  <a:srgbClr val="333333"/>
                </a:solidFill>
              </a:rPr>
              <a:t>Hipótesis: test_acc sube a 0.93-0.95.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669280" cy="23774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73152" cy="237744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721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PALANCA 2 — REGULARIZACIÓN (de la clase)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Grid 4 × 4 sobre el baseline de palanca 1:</a:t>
            </a:r>
          </a:p>
          <a:p>
            <a:r>
              <a:rPr sz="1200">
                <a:solidFill>
                  <a:srgbClr val="333333"/>
                </a:solidFill>
              </a:rPr>
              <a:t>• L2 (weight decay): {0, 1e-5, 1e-4, 1e-3}</a:t>
            </a:r>
          </a:p>
          <a:p>
            <a:r>
              <a:rPr sz="1200">
                <a:solidFill>
                  <a:srgbClr val="333333"/>
                </a:solidFill>
              </a:rPr>
              <a:t>  → slides 20-25 de regularización (fórmula exacta)</a:t>
            </a:r>
          </a:p>
          <a:p>
            <a:r>
              <a:rPr sz="1200">
                <a:solidFill>
                  <a:srgbClr val="333333"/>
                </a:solidFill>
              </a:rPr>
              <a:t>• σ (gaussian noise): {0, 0.03, 0.1, 0.2}</a:t>
            </a:r>
          </a:p>
          <a:p>
            <a:r>
              <a:rPr sz="1200">
                <a:solidFill>
                  <a:srgbClr val="333333"/>
                </a:solidFill>
              </a:rPr>
              <a:t>  → slide 18 de augmentation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11521440" cy="13716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73152" cy="137160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9410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QUÉ DEJAMOS AFUERA Y POR QUÉ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3367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• Dropout: mencionado en la clase como “existen otros más”, no profundizado → fuera del grid.</a:t>
            </a:r>
          </a:p>
          <a:p>
            <a:r>
              <a:rPr sz="1200">
                <a:solidFill>
                  <a:srgbClr val="333333"/>
                </a:solidFill>
              </a:rPr>
              <a:t>• LR schedule: no aparece en la clase → fuera del grid.</a:t>
            </a:r>
          </a:p>
          <a:p>
            <a:r>
              <a:rPr sz="1200">
                <a:solidFill>
                  <a:srgbClr val="333333"/>
                </a:solidFill>
              </a:rPr>
              <a:t>→ El criterio es estricto: sólo técnicas profundizadas en las clases del curso.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39496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240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corridas CV totales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539496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16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combos del grid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539496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 × 5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seeds × folds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Dos palancas, ambas en la clase: sumar more_digits.csv y grid L2 × σ. Dropout y LR schedule quedan fuera por criterio.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EJ3 · Paso 1 · Baseline + more_digits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Paso 1 · Baseline con more_digits.csv (sin reg)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Aislar el efecto de “más datos” manteniendo el resto del Ej2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Arch: shallow [784, 128, 10]</a:t>
            </a:r>
          </a:p>
          <a:p>
            <a:r>
              <a:rPr sz="1100">
                <a:solidFill>
                  <a:srgbClr val="333333"/>
                </a:solidFill>
              </a:rPr>
              <a:t>•  Adam @ 1e-3 · batch = 64</a:t>
            </a:r>
          </a:p>
          <a:p>
            <a:r>
              <a:rPr sz="1100">
                <a:solidFill>
                  <a:srgbClr val="333333"/>
                </a:solidFill>
              </a:rPr>
              <a:t>•  Datasets: digits.csv + more_digits.csv</a:t>
            </a:r>
          </a:p>
          <a:p>
            <a:r>
              <a:rPr sz="1100">
                <a:solidFill>
                  <a:srgbClr val="333333"/>
                </a:solidFill>
              </a:rPr>
              <a:t>•    N = 12.449 + 15.741 = 28.190</a:t>
            </a:r>
          </a:p>
          <a:p>
            <a:r>
              <a:rPr sz="1100">
                <a:solidFill>
                  <a:srgbClr val="333333"/>
                </a:solidFill>
              </a:rPr>
              <a:t>•  k=5 estratificado · 3 seeds (42, 7, 13)</a:t>
            </a:r>
          </a:p>
          <a:p>
            <a:r>
              <a:rPr sz="1100">
                <a:solidFill>
                  <a:srgbClr val="333333"/>
                </a:solidFill>
              </a:rPr>
              <a:t>•  max_epochs = 50 · ES patience = 20</a:t>
            </a:r>
          </a:p>
          <a:p>
            <a:r>
              <a:rPr sz="1100">
                <a:solidFill>
                  <a:srgbClr val="333333"/>
                </a:solidFill>
              </a:rPr>
              <a:t>•  Regularización: todo en 0</a:t>
            </a:r>
          </a:p>
        </p:txBody>
      </p:sp>
      <p:pic>
        <p:nvPicPr>
          <p:cNvPr id="8" name="Picture 7" descr="optimal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31050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251960"/>
            <a:ext cx="11521440" cy="155448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73152" cy="155448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30682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CONVERGENCIA (15 CORRIDAS)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99432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best_epoch  = 5.7 ± 1.1   ·   stop_epoch  = 25.7 ± 1.1</a:t>
            </a:r>
          </a:p>
          <a:p>
            <a:r>
              <a:rPr sz="1200">
                <a:solidFill>
                  <a:srgbClr val="333333"/>
                </a:solidFill>
              </a:rPr>
              <a:t>0/15 corridas tocaron max_epochs=50 → ES bien calibrado.</a:t>
            </a:r>
          </a:p>
          <a:p>
            <a:r>
              <a:rPr sz="1200">
                <a:solidFill>
                  <a:srgbClr val="333333"/>
                </a:solidFill>
              </a:rPr>
              <a:t>Mismo patrón que Ej2 — agregar más datos no cambió la velocidad de convergencia.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Sumar more_digits.csv no cambia la dinámica de entrenamiento — convergencia y ES idénticos al Ej2.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EJ3 · Paso 1 · Generalización en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+more_digits.csv → salto en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Comparativa Ej2 vs Ej3 baseline</a:t>
            </a:r>
          </a:p>
        </p:txBody>
      </p:sp>
      <p:pic>
        <p:nvPicPr>
          <p:cNvPr id="7" name="Picture 6" descr="test_confusion_matrix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035040" cy="578801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41732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Configuración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Test accuracy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Test macro_F1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Ej2 (sin more_digits, sin reg)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0.8529 ± 0.0034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0.8062 ± 0.0034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Ej3 baseline (+more_digits, sin reg)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0.9616 ± 0.0025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0.9609 ± 0.0026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Δ (Ej3 − Ej2)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+0.1087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+0.1547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342900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+10.87 pp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ganancia test_acc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4663440"/>
            <a:ext cx="5303520" cy="118872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4663440"/>
            <a:ext cx="73152" cy="118872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4718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CLASE 8 — AHORA SE APRENDE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501091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F1 clase 8 = 0.938 (prec=0.968, rec=0.909).</a:t>
            </a:r>
          </a:p>
          <a:p>
            <a:r>
              <a:rPr sz="1100">
                <a:solidFill>
                  <a:srgbClr val="333333"/>
                </a:solidFill>
              </a:rPr>
              <a:t>Test acc EXCLUYENDO clase 8 = 0.9672 ± 0.0017.</a:t>
            </a:r>
          </a:p>
          <a:p>
            <a:r>
              <a:rPr sz="1100">
                <a:solidFill>
                  <a:srgbClr val="333333"/>
                </a:solidFill>
              </a:rPr>
              <a:t>→ el shift residual entre digits.csv y test es mínimo.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Sumar more_digits.csv mueve la aguja +10.87 pp — la palanca dominante del Ej3.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EJ3 · Paso 2 · Grid L2 × 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Grid de regularización L2 × 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16 combos × 3 seeds × 5 folds = 240 corridas CV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840480" cy="30175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BFD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bIns="91440" wrap="square"/>
          <a:lstStyle/>
          <a:p>
            <a:pPr algn="ctr"/>
            <a:r>
              <a:rPr sz="1000" b="1">
                <a:solidFill>
                  <a:srgbClr val="1F2A44"/>
                </a:solidFill>
              </a:rPr>
              <a:t>⚙   HIPERPARÁMETROS</a:t>
            </a:r>
          </a:p>
          <a:p>
            <a:r>
              <a:rPr sz="400"/>
              <a:t> </a:t>
            </a:r>
          </a:p>
          <a:p>
            <a:r>
              <a:rPr sz="1100">
                <a:solidFill>
                  <a:srgbClr val="333333"/>
                </a:solidFill>
              </a:rPr>
              <a:t>•  Sobre el baseline del paso 1</a:t>
            </a:r>
          </a:p>
          <a:p>
            <a:r>
              <a:rPr sz="1100">
                <a:solidFill>
                  <a:srgbClr val="333333"/>
                </a:solidFill>
              </a:rPr>
              <a:t>•  L2:  {0, 1e-5, 1e-4, 1e-3}</a:t>
            </a:r>
          </a:p>
          <a:p>
            <a:r>
              <a:rPr sz="1100">
                <a:solidFill>
                  <a:srgbClr val="333333"/>
                </a:solidFill>
              </a:rPr>
              <a:t>•  σ:   {0, 0.03, 0.1, 0.2}</a:t>
            </a:r>
          </a:p>
          <a:p>
            <a:r>
              <a:rPr sz="1100">
                <a:solidFill>
                  <a:srgbClr val="333333"/>
                </a:solidFill>
              </a:rPr>
              <a:t>•  (píxeles z-score → σ = fracción del std)</a:t>
            </a:r>
          </a:p>
          <a:p>
            <a:r>
              <a:rPr sz="1100">
                <a:solidFill>
                  <a:srgbClr val="333333"/>
                </a:solidFill>
              </a:rPr>
              <a:t>•  Loss penalizada: CE + (λ/2)‖W‖² (no bias)</a:t>
            </a:r>
          </a:p>
          <a:p>
            <a:r>
              <a:rPr sz="1100">
                <a:solidFill>
                  <a:srgbClr val="333333"/>
                </a:solidFill>
              </a:rPr>
              <a:t>•  Aug: ruido N(0, σ) por minibatch</a:t>
            </a:r>
          </a:p>
          <a:p>
            <a:r>
              <a:rPr sz="1100">
                <a:solidFill>
                  <a:srgbClr val="333333"/>
                </a:solidFill>
              </a:rPr>
              <a:t>•  Resto = baseline paso 1</a:t>
            </a:r>
          </a:p>
        </p:txBody>
      </p:sp>
      <p:pic>
        <p:nvPicPr>
          <p:cNvPr id="8" name="Picture 7" descr="val_ac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17320"/>
            <a:ext cx="7315200" cy="61813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572000"/>
            <a:ext cx="11521440" cy="13716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572000"/>
            <a:ext cx="73152" cy="137160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6268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BEST COMBO 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1947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L2 = 1e-3 · σ = 0 → val_acc = 0.9750 ± 0.0018 (gap 0.0750).</a:t>
            </a:r>
          </a:p>
          <a:p>
            <a:r>
              <a:rPr sz="1100">
                <a:solidFill>
                  <a:srgbClr val="333333"/>
                </a:solidFill>
              </a:rPr>
              <a:t>L2 mueve la aguja MÁS que σ: las 4 filas con L2=1e-3 superan al baseline (L2=0).</a:t>
            </a:r>
          </a:p>
          <a:p>
            <a:r>
              <a:rPr sz="1100">
                <a:solidFill>
                  <a:srgbClr val="333333"/>
                </a:solidFill>
              </a:rPr>
              <a:t>σ alto (0.2) no degrada en general — curva no monótona, suele aplanar el efecto de σ medio.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Best CV: L2=1e-3, σ=0 → val_acc 0.9750 (+0.005 vs baseline sin reg). L2 domina sobre σ en este grid.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EJ3 · Heatmap del gap val − 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Heatmap del sobreajuste (val − train 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Confirma que la regularización REDUCE el gap</a:t>
            </a:r>
          </a:p>
        </p:txBody>
      </p:sp>
      <p:pic>
        <p:nvPicPr>
          <p:cNvPr id="7" name="Picture 6" descr="g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583680" cy="55674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417320"/>
            <a:ext cx="4663440" cy="118872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0.112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gap CE · sin reg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788920"/>
            <a:ext cx="4663440" cy="118872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0.075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gap CE · L2=1e-3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160520"/>
            <a:ext cx="4663440" cy="118872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−33%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reducción del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5486400"/>
            <a:ext cx="4663440" cy="41148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5486400"/>
            <a:ext cx="73152" cy="41148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55412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QUÉ DICE EL HEATMAP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5833872"/>
            <a:ext cx="43891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L2=1e-3 cierra ~30% del sobreajuste manteniendo la accuracy.</a:t>
            </a:r>
          </a:p>
          <a:p>
            <a:r>
              <a:rPr sz="1000">
                <a:solidFill>
                  <a:srgbClr val="333333"/>
                </a:solidFill>
              </a:rPr>
              <a:t>σ por sí solo (L2=0) mueve poco el gap.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L2=1e-3 cierra ~30% del gap sin perder accuracy en CV. σ sola no cambia el gap.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EJ3 · Best combo en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Best combo evaluado en digits_test.csv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L2=1e-3, σ=0 · 3 seeds · vs baseline sin reg</a:t>
            </a:r>
          </a:p>
        </p:txBody>
      </p:sp>
      <p:pic>
        <p:nvPicPr>
          <p:cNvPr id="7" name="Picture 6" descr="test_confusion_matrix_best_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035040" cy="578801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417320"/>
          <a:ext cx="5303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Best reg (test)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accuracy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0.9601 ± 0.0030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macro_precision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0.9605 ± 0.0029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macro_recall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0.9591 ± 0.0030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macro_F1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0.9594 ± 0.0030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0" y="3337560"/>
            <a:ext cx="5303520" cy="25146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3337560"/>
            <a:ext cx="73152" cy="251460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33924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OBSERVACIÓN HONESTA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685032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best_reg en TEST queda −0.0015 PEOR que el baseline (+more_digits, sin reg):</a:t>
            </a:r>
          </a:p>
          <a:p>
            <a:r>
              <a:rPr sz="1100">
                <a:solidFill>
                  <a:srgbClr val="333333"/>
                </a:solidFill>
              </a:rPr>
              <a:t>   baseline +more_digits → 0.9616</a:t>
            </a:r>
          </a:p>
          <a:p>
            <a:r>
              <a:rPr sz="1100">
                <a:solidFill>
                  <a:srgbClr val="333333"/>
                </a:solidFill>
              </a:rPr>
              <a:t>   best_reg              → 0.9601</a:t>
            </a:r>
          </a:p>
          <a:p>
            <a:r>
              <a:rPr sz="1100">
                <a:solidFill>
                  <a:srgbClr val="333333"/>
                </a:solidFill>
              </a:rPr>
              <a:t/>
            </a:r>
          </a:p>
          <a:p>
            <a:r>
              <a:rPr sz="1100">
                <a:solidFill>
                  <a:srgbClr val="333333"/>
                </a:solidFill>
              </a:rPr>
              <a:t>Hipótesis: el gap CV → test acá NO es por sobreajuste de train, es por SHIFT de distribución</a:t>
            </a:r>
          </a:p>
          <a:p>
            <a:r>
              <a:rPr sz="1100">
                <a:solidFill>
                  <a:srgbClr val="333333"/>
                </a:solidFill>
              </a:rPr>
              <a:t>entre digits.csv y digits_test.csv. La regularización combate memoria, no shift.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Best reg en TEST queda un pelo peor que el baseline: el gap residual era SHIFT, no overfit — y la reg no lo combate.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EJ3 · Comparativa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Comparativa final · Ej2 → +more_digits → +reg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Cuánto aporta cada palanca al objetivo de 98%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11521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Configuración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Test accuracy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Test macro_F1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Ej2 (sin more_digits, sin reg)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0.8529 ± 0.0034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0.8062 ± 0.0034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Ej3 baseline (+more_digits, sin reg)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0.9616 ± 0.0025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0.9609 ± 0.0026</a:t>
                      </a:r>
                    </a:p>
                  </a:txBody>
                  <a:tcPr marL="73152" marR="73152" marT="27432" marB="27432">
                    <a:solidFill>
                      <a:srgbClr val="F6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Ej3 best_reg (+more_digits + L2=1e-3 + σ=0)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0.9601 ± 0.0030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</a:rPr>
                        <a:t>0.9594 ± 0.0030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338328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+10.87 pp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+more_digits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38328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−0.15 pp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+L2 sobre +more_dig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383280"/>
            <a:ext cx="3931920" cy="1188720"/>
          </a:xfrm>
          <a:prstGeom prst="roundRect">
            <a:avLst>
              <a:gd name="adj" fmla="val 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54864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0.0199</a:t>
            </a:r>
          </a:p>
          <a:p>
            <a:pPr algn="ctr"/>
            <a:r>
              <a:rPr sz="1000">
                <a:solidFill>
                  <a:srgbClr val="E8EEF8"/>
                </a:solidFill>
              </a:rPr>
              <a:t>brecha al 98% pedido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0"/>
            <a:ext cx="11521440" cy="114300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754880"/>
            <a:ext cx="73152" cy="114300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80974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LECTURA DEFENSIVA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10235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• Palanca dominante: MÁS DATOS (la clase 8 ausente era el agujero estructural).</a:t>
            </a:r>
          </a:p>
          <a:p>
            <a:r>
              <a:rPr sz="1100">
                <a:solidFill>
                  <a:srgbClr val="333333"/>
                </a:solidFill>
              </a:rPr>
              <a:t>• Adam ya tenía el gap más bajo de los 3 opts (lo vimos en LR×OPT del Ej2) → reg movía poco la aguja sobre Adam.</a:t>
            </a:r>
          </a:p>
          <a:p>
            <a:r>
              <a:rPr sz="1100">
                <a:solidFill>
                  <a:srgbClr val="333333"/>
                </a:solidFill>
              </a:rPr>
              <a:t>• Hipótesis del residuo: el shift entre digits.csv y digits_test.csv es GEOMÉTRICO (rotaciones, traslaciones</a:t>
            </a:r>
          </a:p>
          <a:p>
            <a:r>
              <a:rPr sz="1100">
                <a:solidFill>
                  <a:srgbClr val="333333"/>
                </a:solidFill>
              </a:rPr>
              <a:t>  entre escritores). σ gaussiano simula ruido isotrópico (slide 18) — geometría requeriría augmentación</a:t>
            </a:r>
          </a:p>
          <a:p>
            <a:r>
              <a:rPr sz="1100">
                <a:solidFill>
                  <a:srgbClr val="333333"/>
                </a:solidFill>
              </a:rPr>
              <a:t>  geométrica, que la clase no profundiza.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+10.87 pp por más datos · −0.15 pp por reg. La palanca dominante fue SUMAR DATOS — no llegamos al 98%, brecha = 1.99 pp.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548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Qué aprendimos · qué quedó 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E80"/>
                </a:solidFill>
              </a:rPr>
              <a:t>Una lectura por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840480" cy="42062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73152" cy="420624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721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DB"/>
                </a:solidFill>
              </a:rPr>
              <a:t>EJ1 — La métrica importa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64792"/>
            <a:ext cx="35661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El no-lineal tiene 2× mejor MSE</a:t>
            </a:r>
          </a:p>
          <a:p>
            <a:r>
              <a:rPr sz="1200">
                <a:solidFill>
                  <a:srgbClr val="333333"/>
                </a:solidFill>
              </a:rPr>
              <a:t>que el lineal pero quedan empatados</a:t>
            </a:r>
          </a:p>
          <a:p>
            <a:r>
              <a:rPr sz="1200">
                <a:solidFill>
                  <a:srgbClr val="333333"/>
                </a:solidFill>
              </a:rPr>
              <a:t>en F1, ambos rozando el baseline.</a:t>
            </a:r>
          </a:p>
          <a:p>
            <a:r>
              <a:rPr sz="1200">
                <a:solidFill>
                  <a:srgbClr val="333333"/>
                </a:solidFill>
              </a:rPr>
              <a:t/>
            </a:r>
          </a:p>
          <a:p>
            <a:r>
              <a:rPr sz="1200">
                <a:solidFill>
                  <a:srgbClr val="333333"/>
                </a:solidFill>
              </a:rPr>
              <a:t>La loss que se minimiza (MSE) NO</a:t>
            </a:r>
          </a:p>
          <a:p>
            <a:r>
              <a:rPr sz="1200">
                <a:solidFill>
                  <a:srgbClr val="333333"/>
                </a:solidFill>
              </a:rPr>
              <a:t>responde la misma pregunta que la</a:t>
            </a:r>
          </a:p>
          <a:p>
            <a:r>
              <a:rPr sz="1200">
                <a:solidFill>
                  <a:srgbClr val="333333"/>
                </a:solidFill>
              </a:rPr>
              <a:t>métrica de decisión (F1) — regla 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840480" cy="42062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73152" cy="4206240"/>
          </a:xfrm>
          <a:prstGeom prst="rect">
            <a:avLst/>
          </a:prstGeom>
          <a:solidFill>
            <a:srgbClr val="1F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4721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8E6F"/>
                </a:solidFill>
              </a:rPr>
              <a:t>EJ2 — Los HP interactúan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764792"/>
            <a:ext cx="35661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El “techo” de Adam no era del opt:</a:t>
            </a:r>
          </a:p>
          <a:p>
            <a:r>
              <a:rPr sz="1200">
                <a:solidFill>
                  <a:srgbClr val="333333"/>
                </a:solidFill>
              </a:rPr>
              <a:t>era del producto LR×batch.</a:t>
            </a:r>
          </a:p>
          <a:p>
            <a:r>
              <a:rPr sz="1200">
                <a:solidFill>
                  <a:srgbClr val="333333"/>
                </a:solidFill>
              </a:rPr>
              <a:t>El ranking de archs depende del LR —</a:t>
            </a:r>
          </a:p>
          <a:p>
            <a:r>
              <a:rPr sz="1200">
                <a:solidFill>
                  <a:srgbClr val="333333"/>
                </a:solidFill>
              </a:rPr>
              <a:t>un sweep one-at-a-time mentía.</a:t>
            </a:r>
          </a:p>
          <a:p>
            <a:r>
              <a:rPr sz="1200">
                <a:solidFill>
                  <a:srgbClr val="333333"/>
                </a:solidFill>
              </a:rPr>
              <a:t/>
            </a:r>
          </a:p>
          <a:p>
            <a:r>
              <a:rPr sz="1200">
                <a:solidFill>
                  <a:srgbClr val="333333"/>
                </a:solidFill>
              </a:rPr>
              <a:t>Decisión final defendida con criterio</a:t>
            </a:r>
          </a:p>
          <a:p>
            <a:r>
              <a:rPr sz="1200">
                <a:solidFill>
                  <a:srgbClr val="333333"/>
                </a:solidFill>
              </a:rPr>
              <a:t>explícito: empate estadístico → Occam.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566160" cy="4206240"/>
          </a:xfrm>
          <a:prstGeom prst="rect">
            <a:avLst/>
          </a:prstGeom>
          <a:solidFill>
            <a:srgbClr val="FAFBFD"/>
          </a:solidFill>
          <a:ln w="635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73152" cy="4206240"/>
          </a:xfrm>
          <a:prstGeom prst="rect">
            <a:avLst/>
          </a:prstGeom>
          <a:solidFill>
            <a:srgbClr val="C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4721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46A2E"/>
                </a:solidFill>
              </a:rPr>
              <a:t>EJ3 — Datos &gt; regularización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764792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+more_digits subió +10.87 pp;</a:t>
            </a:r>
          </a:p>
          <a:p>
            <a:r>
              <a:rPr sz="1200">
                <a:solidFill>
                  <a:srgbClr val="333333"/>
                </a:solidFill>
              </a:rPr>
              <a:t>la regularización L2+σ movió −0.15.</a:t>
            </a:r>
          </a:p>
          <a:p>
            <a:r>
              <a:rPr sz="1200">
                <a:solidFill>
                  <a:srgbClr val="333333"/>
                </a:solidFill>
              </a:rPr>
              <a:t/>
            </a:r>
          </a:p>
          <a:p>
            <a:r>
              <a:rPr sz="1200">
                <a:solidFill>
                  <a:srgbClr val="333333"/>
                </a:solidFill>
              </a:rPr>
              <a:t>El residuo es SHIFT geométrico que</a:t>
            </a:r>
          </a:p>
          <a:p>
            <a:r>
              <a:rPr sz="1200">
                <a:solidFill>
                  <a:srgbClr val="333333"/>
                </a:solidFill>
              </a:rPr>
              <a:t>L2 y σ gaussiano no resuelven.</a:t>
            </a:r>
          </a:p>
          <a:p>
            <a:r>
              <a:rPr sz="1200">
                <a:solidFill>
                  <a:srgbClr val="333333"/>
                </a:solidFill>
              </a:rPr>
              <a:t>Augmentación geométrica (slide 18 de</a:t>
            </a:r>
          </a:p>
          <a:p>
            <a:r>
              <a:rPr sz="1200">
                <a:solidFill>
                  <a:srgbClr val="333333"/>
                </a:solidFill>
              </a:rPr>
              <a:t>regularización) no se profundizó.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989320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73152" bIns="73152" wrap="square"/>
          <a:lstStyle/>
          <a:p>
            <a:pPr algn="ctr"/>
            <a:r>
              <a:rPr sz="1000" b="1">
                <a:solidFill>
                  <a:srgbClr val="C8D8F0"/>
                </a:solidFill>
              </a:rPr>
              <a:t>CONCLUSIÓN   </a:t>
            </a:r>
            <a:r>
              <a:rPr sz="1300" b="1">
                <a:solidFill>
                  <a:srgbClr val="FFFFFF"/>
                </a:solidFill>
              </a:rPr>
              <a:t>Reglas que sostuvimos: loss + Acc/Prec/Rec/F1 siempre · ejes de promedio explícitos · decisiones ancladas en las clases.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